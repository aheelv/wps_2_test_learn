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8079" y="-1097280"/>
            <a:ext cx="5486400" cy="5486400"/>
          </a:xfrm>
          <a:prstGeom prst="ellipse">
            <a:avLst/>
          </a:prstGeom>
          <a:solidFill>
            <a:srgbClr val="1D4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14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NCRE · 全国计算机等级考试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二级 WPS Office</a:t>
            </a:r>
          </a:p>
          <a:p>
            <a:pPr>
              <a:lnSpc>
                <a:spcPct val="105000"/>
              </a:lnSpc>
            </a:pPr>
            <a:r>
              <a:rPr sz="4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高级应用与设计</a:t>
            </a:r>
          </a:p>
          <a:p>
            <a:pPr>
              <a:lnSpc>
                <a:spcPct val="105000"/>
              </a:lnSpc>
            </a:pPr>
            <a:r>
              <a:rPr sz="4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 次课 · 44 课时通关培训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14800"/>
            <a:ext cx="1097280" cy="7620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370832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BCD4EC"/>
                </a:solidFill>
                <a:latin typeface="Microsoft YaHei"/>
                <a:ea typeface="Microsoft YaHei"/>
                <a:cs typeface="Microsoft YaHei"/>
              </a:rPr>
              <a:t>依据《全国计算机等级考试(NCRE) 二级 WPS Office 高级应用与设计考试大纲(2025年版)》编写 · 5 大模块按考试分值配置课时 · 每次课 4 课时、课堂练习占 60% · 以帮助学生通过为第一原则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532120"/>
            <a:ext cx="1737360" cy="86868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5632704"/>
            <a:ext cx="14630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67</a:t>
            </a:r>
          </a:p>
          <a:p>
            <a:r>
              <a:rPr sz="1400" b="0" i="0">
                <a:solidFill>
                  <a:srgbClr val="A9C6E2"/>
                </a:solidFill>
                <a:latin typeface="Microsoft YaHei"/>
                <a:ea typeface="Microsoft YaHei"/>
                <a:cs typeface="Microsoft YaHei"/>
              </a:rPr>
              <a:t>科目代码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19" y="5532120"/>
            <a:ext cx="1737360" cy="86868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3511" y="5632704"/>
            <a:ext cx="14630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  <a:p>
            <a:r>
              <a:rPr sz="1400" b="0" i="0">
                <a:solidFill>
                  <a:srgbClr val="A9C6E2"/>
                </a:solidFill>
                <a:latin typeface="Microsoft YaHei"/>
                <a:ea typeface="Microsoft YaHei"/>
                <a:cs typeface="Microsoft YaHei"/>
              </a:rPr>
              <a:t>次课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38" y="5532120"/>
            <a:ext cx="1737360" cy="86868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8030" y="5632704"/>
            <a:ext cx="14630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44</a:t>
            </a:r>
          </a:p>
          <a:p>
            <a:r>
              <a:rPr sz="1400" b="0" i="0">
                <a:solidFill>
                  <a:srgbClr val="A9C6E2"/>
                </a:solidFill>
                <a:latin typeface="Microsoft YaHei"/>
                <a:ea typeface="Microsoft YaHei"/>
                <a:cs typeface="Microsoft YaHei"/>
              </a:rPr>
              <a:t>课时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57" y="5532120"/>
            <a:ext cx="1737360" cy="86868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02549" y="5632704"/>
            <a:ext cx="14630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60%</a:t>
            </a:r>
          </a:p>
          <a:p>
            <a:r>
              <a:rPr sz="1400" b="0" i="0">
                <a:solidFill>
                  <a:srgbClr val="A9C6E2"/>
                </a:solidFill>
                <a:latin typeface="Microsoft YaHei"/>
                <a:ea typeface="Microsoft YaHei"/>
                <a:cs typeface="Microsoft YaHei"/>
              </a:rPr>
              <a:t>练习占比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课程总览与考试全景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87552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98448"/>
            <a:ext cx="2688336" cy="1225296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2688336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435608"/>
            <a:ext cx="23957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第 1 次课 · 4 课时</a:t>
            </a:r>
          </a:p>
          <a:p>
            <a:r>
              <a:rPr sz="14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公共基础（一）：计算机系统与数据结构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计算机系统与信息表示 · 网络与信息安全 · 算法与数据结构 · 线性表/栈/队列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3864" y="1298448"/>
            <a:ext cx="2688336" cy="1225296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3864" y="1298448"/>
            <a:ext cx="2688336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1435608"/>
            <a:ext cx="23957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第 2 次课 · 4 课时</a:t>
            </a:r>
          </a:p>
          <a:p>
            <a:r>
              <a:rPr sz="14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公共基础（二）与 WPS 综合应用基础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树与二叉树 · 查找与排序 · 程序设计/软件工程 · 数据库 · WPS 综合应用基础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7648" y="1298448"/>
            <a:ext cx="2688336" cy="1225296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7648" y="1298448"/>
            <a:ext cx="2688336" cy="73152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435608"/>
            <a:ext cx="23957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第 3 次课 · 4 课时</a:t>
            </a:r>
          </a:p>
          <a:p>
            <a:r>
              <a:rPr sz="14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文字文档（一）：编辑 · 字体段落 · 样式 · 页面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文档基础操作 · 字体与段落格式 · 样式与主题 · 页面布局与分节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71432" y="1298448"/>
            <a:ext cx="2688336" cy="1225296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71432" y="1298448"/>
            <a:ext cx="2688336" cy="73152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17736" y="1435608"/>
            <a:ext cx="23957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第 4 次课 · 4 课时</a:t>
            </a:r>
          </a:p>
          <a:p>
            <a:r>
              <a:rPr sz="14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文字文档（二）：页眉页脚 · 表格 · 图文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页眉页脚与页码 · 表格制作与编辑 · 图形图像 · 文本框与文档部件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679192"/>
            <a:ext cx="2688336" cy="1225296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2679192"/>
            <a:ext cx="2688336" cy="73152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2816352"/>
            <a:ext cx="23957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第 5 次课 · 4 课时</a:t>
            </a:r>
          </a:p>
          <a:p>
            <a:r>
              <a:rPr sz="14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文字文档（三）：引用 · 审阅 · 邮件合并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内容引用（目录/题注/交叉引用/脚注尾注） · 审阅与修订 · 邮件合并 · 图文素材综合应用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83864" y="2679192"/>
            <a:ext cx="2688336" cy="1225296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83864" y="2679192"/>
            <a:ext cx="2688336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30168" y="2816352"/>
            <a:ext cx="23957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第 6 次课 · 4 课时</a:t>
            </a:r>
          </a:p>
          <a:p>
            <a:r>
              <a:rPr sz="14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电子表格（一）：工作表 · 格式 · 公式函数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工作簿与工作表 · 数据输入与单元格格式 · 单元格引用与公式 · 数学统计与逻辑函数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7648" y="2679192"/>
            <a:ext cx="2688336" cy="1225296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7648" y="2679192"/>
            <a:ext cx="2688336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2816352"/>
            <a:ext cx="23957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第 7 次课 · 4 课时</a:t>
            </a:r>
          </a:p>
          <a:p>
            <a:r>
              <a:rPr sz="14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电子表格（二）：查找引用 · 文本日期 · 排序筛选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查找与引用函数 · 文本函数与日期函数 · 数组公式 · 排序与筛选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71432" y="2679192"/>
            <a:ext cx="2688336" cy="1225296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71432" y="2679192"/>
            <a:ext cx="2688336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17736" y="2816352"/>
            <a:ext cx="23957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第 8 次课 · 4 课时</a:t>
            </a:r>
          </a:p>
          <a:p>
            <a:r>
              <a:rPr sz="14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电子表格（三）：汇总 · 图表 · 透视 · 分析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分类汇总与数据有效性 · 图表创建与修饰 · 数据透视表与透视图 · 模拟分析与安全输出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059936"/>
            <a:ext cx="2688336" cy="1225296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4059936"/>
            <a:ext cx="268833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197096"/>
            <a:ext cx="23957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第 9 次课 · 4 课时</a:t>
            </a:r>
          </a:p>
          <a:p>
            <a:r>
              <a:rPr sz="14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演示文稿（一）：基本操作 · 母版 · 对象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演示文稿基本操作与视图 · 主题背景与母版 · 文本图形与智能图形 · 图片图表音视频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83864" y="4059936"/>
            <a:ext cx="2688336" cy="1225296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83864" y="4059936"/>
            <a:ext cx="268833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30168" y="4197096"/>
            <a:ext cx="23957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第 10 次课 · 4 课时</a:t>
            </a:r>
          </a:p>
          <a:p>
            <a:r>
              <a:rPr sz="14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演示文稿（二）：动画 · 放映 · 综合案例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对象动画与幻灯片切换 · 超链接与放映设置 · 打包输出 · 演示综合案例实训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27648" y="4059936"/>
            <a:ext cx="2688336" cy="1225296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27648" y="4059936"/>
            <a:ext cx="2688336" cy="731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73952" y="4197096"/>
            <a:ext cx="23957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第 11 次课 · 4 课时</a:t>
            </a:r>
          </a:p>
          <a:p>
            <a:r>
              <a:rPr sz="14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全真模拟与考前冲刺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单选突破 · 文字操作题实战 · 表格操作题实战 · 演示操作题实战与全真模拟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742432"/>
            <a:ext cx="268833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" y="5870448"/>
            <a:ext cx="23591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20</a:t>
            </a:r>
            <a:r>
              <a:rPr sz="13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 分 · 单项选择题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83864" y="5742432"/>
            <a:ext cx="268833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48456" y="5870448"/>
            <a:ext cx="23591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30</a:t>
            </a:r>
            <a:r>
              <a:rPr sz="13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 分 · WPS 处理文字文档操作题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27648" y="5742432"/>
            <a:ext cx="268833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5870448"/>
            <a:ext cx="23591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30</a:t>
            </a:r>
            <a:r>
              <a:rPr sz="13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 分 · WPS 处理电子表格操作题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71432" y="5742432"/>
            <a:ext cx="268833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36024" y="5870448"/>
            <a:ext cx="23591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20</a:t>
            </a:r>
            <a:r>
              <a:rPr sz="13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 分 · WPS 处理演示文稿操作题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考试说明与得分策略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87552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一、题型与分值（满分 100 分 · 120 分钟 · 上机考试）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72768"/>
            <a:ext cx="2688336" cy="1170432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72768"/>
            <a:ext cx="2688336" cy="73152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19072"/>
            <a:ext cx="2322576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20 分</a:t>
            </a:r>
          </a:p>
          <a:p>
            <a:pPr>
              <a:lnSpc>
                <a:spcPct val="102000"/>
              </a:lnSpc>
            </a:pPr>
            <a:r>
              <a:rPr sz="12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单项选择题</a:t>
            </a:r>
          </a:p>
          <a:p>
            <a:pPr>
              <a:lnSpc>
                <a:spcPct val="102000"/>
              </a:lnSpc>
            </a:pPr>
            <a:r>
              <a:rPr sz="10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20 题 × 1 分（含公共基础知识 10 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3864" y="1572768"/>
            <a:ext cx="2688336" cy="1170432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83864" y="1572768"/>
            <a:ext cx="2688336" cy="73152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1719072"/>
            <a:ext cx="2322576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30 分</a:t>
            </a:r>
          </a:p>
          <a:p>
            <a:pPr>
              <a:lnSpc>
                <a:spcPct val="102000"/>
              </a:lnSpc>
            </a:pPr>
            <a:r>
              <a:rPr sz="12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WPS 处理文字文档操作题</a:t>
            </a:r>
          </a:p>
          <a:p>
            <a:pPr>
              <a:lnSpc>
                <a:spcPct val="102000"/>
              </a:lnSpc>
            </a:pPr>
            <a:r>
              <a:rPr sz="10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 大题，含若干小题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1572768"/>
            <a:ext cx="2688336" cy="1170432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72768"/>
            <a:ext cx="2688336" cy="73152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719072"/>
            <a:ext cx="2322576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30 分</a:t>
            </a:r>
          </a:p>
          <a:p>
            <a:pPr>
              <a:lnSpc>
                <a:spcPct val="102000"/>
              </a:lnSpc>
            </a:pPr>
            <a:r>
              <a:rPr sz="12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WPS 处理电子表格操作题</a:t>
            </a:r>
          </a:p>
          <a:p>
            <a:pPr>
              <a:lnSpc>
                <a:spcPct val="102000"/>
              </a:lnSpc>
            </a:pPr>
            <a:r>
              <a:rPr sz="10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 大题，含若干小题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71432" y="1572768"/>
            <a:ext cx="2688336" cy="1170432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71432" y="1572768"/>
            <a:ext cx="2688336" cy="73152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54312" y="1719072"/>
            <a:ext cx="2322576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20 分</a:t>
            </a:r>
          </a:p>
          <a:p>
            <a:pPr>
              <a:lnSpc>
                <a:spcPct val="102000"/>
              </a:lnSpc>
            </a:pPr>
            <a:r>
              <a:rPr sz="12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WPS 处理演示文稿操作题</a:t>
            </a:r>
          </a:p>
          <a:p>
            <a:pPr>
              <a:lnSpc>
                <a:spcPct val="102000"/>
              </a:lnSpc>
            </a:pPr>
            <a:r>
              <a:rPr sz="10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 大题，含若干小题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81635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二、120 分钟时间分配建议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218688"/>
            <a:ext cx="181356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337560"/>
            <a:ext cx="181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单项选择 20'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3640" y="3218688"/>
            <a:ext cx="2720340" cy="47548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3640" y="3337560"/>
            <a:ext cx="27203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文字文档操作题 30'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73980" y="3218688"/>
            <a:ext cx="3173730" cy="475488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3980" y="3337560"/>
            <a:ext cx="317373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电子表格操作题 35'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47710" y="3218688"/>
            <a:ext cx="2266950" cy="47548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7710" y="3337560"/>
            <a:ext cx="22669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演示文稿操作题 25'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14660" y="3218688"/>
            <a:ext cx="906780" cy="47548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14660" y="3337560"/>
            <a:ext cx="9067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检查复核 10'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单项选择：20 分钟</a:t>
            </a:r>
            <a:r>
              <a:rPr sz="14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20 题，平均 1 分钟/题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文字文档操作题：30 分钟</a:t>
            </a:r>
            <a:r>
              <a:rPr sz="14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先全局后局部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电子表格操作题：35 分钟</a:t>
            </a:r>
            <a:r>
              <a:rPr sz="14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先算数据再画图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演示文稿操作题：25 分钟</a:t>
            </a:r>
            <a:r>
              <a:rPr sz="14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先母版后对象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检查复核：10 分钟</a:t>
            </a:r>
            <a:r>
              <a:rPr sz="14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核对小题与保存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349240"/>
            <a:ext cx="10881360" cy="86868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349240"/>
            <a:ext cx="73152" cy="86868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10424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通关目标：</a:t>
            </a:r>
            <a:r>
              <a:rPr sz="1500" b="0" i="0">
                <a:solidFill>
                  <a:srgbClr val="7A4A09"/>
                </a:solidFill>
                <a:latin typeface="Microsoft YaHei"/>
                <a:ea typeface="Microsoft YaHei"/>
                <a:cs typeface="Microsoft YaHei"/>
              </a:rPr>
              <a:t>≥ 60 分：建议操作题 ≥ 50 分 + 单选 ≥ 12 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五大模块 · 课时按考试分值配置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87552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分值越高的题型投入课时越多，把有限课时集中到最能提分的操作题上。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57276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424" y="157276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课时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4144" y="15727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对应题型与分值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7" y="1572768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对应考纲条目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883664"/>
            <a:ext cx="10881360" cy="713232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883664"/>
            <a:ext cx="82296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975104"/>
            <a:ext cx="35661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5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M1  </a:t>
            </a:r>
            <a:r>
              <a:rPr sz="13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公共基础与 WPS 综合应用基础</a:t>
            </a:r>
          </a:p>
          <a:p>
            <a:r>
              <a:rPr sz="11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第 1–8 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066544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8 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084832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单选 20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4383" y="202996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公共基础知识 + 考纲一 · WPS 综合应用基础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688336"/>
            <a:ext cx="10881360" cy="713232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688336"/>
            <a:ext cx="82296" cy="713232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2779776"/>
            <a:ext cx="35661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5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M2  </a:t>
            </a:r>
            <a:r>
              <a:rPr sz="13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WPS 处理文字文档</a:t>
            </a:r>
          </a:p>
          <a:p>
            <a:r>
              <a:rPr sz="11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第 9–20 课时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871216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12 课时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88950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30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44383" y="283464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考纲二 · WPS 处理文字文档（9 条）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493008"/>
            <a:ext cx="10881360" cy="713232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493008"/>
            <a:ext cx="82296" cy="7132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584448"/>
            <a:ext cx="35661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5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M3  </a:t>
            </a:r>
            <a:r>
              <a:rPr sz="13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WPS 处理电子表格</a:t>
            </a:r>
          </a:p>
          <a:p>
            <a:r>
              <a:rPr sz="11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第 21–32 课时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67588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12 课时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3694176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30 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44383" y="3639312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考纲三 · WPS 处理数据表格（9 条）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297680"/>
            <a:ext cx="10881360" cy="713232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297680"/>
            <a:ext cx="82296" cy="71323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389120"/>
            <a:ext cx="35661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5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M4  </a:t>
            </a:r>
            <a:r>
              <a:rPr sz="13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WPS 设计演示文稿</a:t>
            </a:r>
          </a:p>
          <a:p>
            <a:r>
              <a:rPr sz="11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第 33–40 课时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48056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8 课时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449884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20 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44383" y="444398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考纲四 · WPS 设计演示文稿（6 条）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102352"/>
            <a:ext cx="10881360" cy="713232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102352"/>
            <a:ext cx="82296" cy="71323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5193792"/>
            <a:ext cx="35661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5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M5  </a:t>
            </a:r>
            <a:r>
              <a:rPr sz="135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全真模拟与考前冲刺</a:t>
            </a:r>
          </a:p>
          <a:p>
            <a:r>
              <a:rPr sz="11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第 41–44 课时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5285232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4 课时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0" y="530352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综合提分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44383" y="5248656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四大题型实战 · 考试策略 · 全真模拟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943600"/>
            <a:ext cx="10881360" cy="603504"/>
          </a:xfrm>
          <a:prstGeom prst="rect">
            <a:avLst/>
          </a:prstGeom>
          <a:solidFill>
            <a:srgbClr val="1B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6099048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5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合计　</a:t>
            </a:r>
            <a:r>
              <a:rPr sz="14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 大模块 · 44 课时　｜　</a:t>
            </a:r>
            <a:r>
              <a:rPr sz="1450" b="0" i="0">
                <a:solidFill>
                  <a:srgbClr val="BCD4EC"/>
                </a:solidFill>
                <a:latin typeface="Microsoft YaHei"/>
                <a:ea typeface="Microsoft YaHei"/>
                <a:cs typeface="Microsoft YaHei"/>
              </a:rPr>
              <a:t>单选 20 + 文字 30 + 表格 30 + 演示 20 = 100 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914400"/>
            <a:ext cx="5943600" cy="5943600"/>
          </a:xfrm>
          <a:prstGeom prst="ellipse">
            <a:avLst/>
          </a:prstGeom>
          <a:solidFill>
            <a:srgbClr val="1D4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第 1 次课 / 共 11 次课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2412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公共基础（一）：计算机系统与数据结构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82296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BCD4EC"/>
                </a:solidFill>
                <a:latin typeface="Microsoft YaHei"/>
                <a:ea typeface="Microsoft YaHei"/>
                <a:cs typeface="Microsoft YaHei"/>
              </a:rPr>
              <a:t>计算机系统与信息表示 · 网络与信息安全 · 算法与数据结构 · 线性表/栈/队列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2004181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20041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课时 · 180 分钟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5157" y="3154680"/>
            <a:ext cx="1427378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5157" y="3246120"/>
            <a:ext cx="142737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1–4 课时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10551" y="3154680"/>
            <a:ext cx="2323856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0551" y="3246120"/>
            <a:ext cx="2323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单项选择 · 单选 20 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94760"/>
            <a:ext cx="6583680" cy="384048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794760"/>
            <a:ext cx="2633472" cy="384048"/>
          </a:xfrm>
          <a:prstGeom prst="rect">
            <a:avLst/>
          </a:prstGeom>
          <a:solidFill>
            <a:srgbClr val="3A5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3794760"/>
            <a:ext cx="3950208" cy="384048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77056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讲授 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877056"/>
            <a:ext cx="39502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课堂练习 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159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提分重点：</a:t>
            </a:r>
            <a:r>
              <a:rPr sz="15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拿满公共基础选择分，单选总用时控制在 20 分钟内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36592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掌握冯·诺依曼体系与五大部件，能识别常见性能指标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熟练完成进制互转与存储容量计算，记住 ASCII 与汉字编码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记住 OSI/TCP-IP 模型、常用协议与病毒特征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理解算法五特征与复杂度排序，掌握线性表与栈队列特性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课时 / 共 44 课时 · 第 1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考纲一 · 计算机系统与信息表示（数制、编码、多媒体）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单项选择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计算机系统组成与信息表示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了解计算机发展历程与分类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掌握冯·诺依曼体系结构与五大部件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理解 CPU、存储器、总线与外部设备的作用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掌握二/八/十/十六进制之间的转换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理解西文字符与汉字编码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存储程序原理的内涵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CPU 主频与字长的含义区分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机内码与国标码的关系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课时 · 计算机系统组成与信息表示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计算机发展史与系统组成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模块一 · 第 1 课时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四代计算机：电子管→晶体管→集成电路→大规模集成电路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冯·诺依曼三大思想：存储程序、程序控制、二进制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计算机系统 = 硬件系统 + 软件系统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考纲一 · 计算机系统与信息表示（数制、编码、多媒体）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7 / 292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课时 · 计算机系统组成与信息表示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冯·诺依曼体系结构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考试高频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五大部件：运算器、控制器、存储器、输入设备、输出设备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运算器与控制器合称 CPU（中央处理器）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存储程序：程序和数据一样存放在存储器中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指令 = 操作码 + 操作数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考纲一 · 计算机系统与信息表示（数制、编码、多媒体）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8 / 292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课时 · 计算机系统组成与信息表示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存储器分层与总线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性能与结构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速度由快到慢：寄存器 &gt; Cache &gt; 内存 &gt; 外存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Cache 用于缓解 CPU 与内存速度差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内存(RAM)断电即失，外存断电保留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总线三兄弟：数据、地址、控制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考纲一 · 计算机系统与信息表示（数制、编码、多媒体）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9 / 292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课时 · 计算机系统组成与信息表示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主要性能指标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易混淆点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主频：CPU 时钟频率，单位 Hz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字长：CPU 一次能处理的二进制位数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运算速度：MIPS（百万条指令/秒）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存储容量：B &lt; KB &lt; MB &lt; GB &lt; TB（1024 进制）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考纲一 · 计算机系统与信息表示（数制、编码、多媒体）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10 / 292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课时 · 计算机系统组成与信息表示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数制与进制转换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必考计算题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按权展开：十进制 = Σ 位值 × 基数^权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除基取余、逆序排列：十进制转任意进制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二↔八：3 位一组；二↔十六：4 位一组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例：(1101)₂ = 13 = (D)₁₆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考纲一 · 计算机系统与信息表示（数制、编码、多媒体）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11 / 292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课时 · 计算机系统组成与信息表示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字符与汉字编码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高频选择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ASCII：7 位二进制，共 128 个字符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大写字母 A=65，小写 a=97，数字 0=48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汉字输入码→国标码→机内码→字形码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机内码 = 国标码 + 8080H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考纲一 · 计算机系统与信息表示（数制、编码、多媒体）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12 / 292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课时 · 计算机系统组成与信息表示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多媒体数字化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理解为主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图像：分辨率 × 色彩深度 = 存储容量(bit)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音频：采样频率 × 量化位数 × 声道 × 时长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常见图像格式：BMP/JPG/GIF/PNG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常见视频格式：AVI/MP4/MOV/WMV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考纲一 · 计算机系统与信息表示（数制、编码、多媒体）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13 / 292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 课时 / 共 44 课时 · 第 1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考纲一 · 计算机网络与信息安全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单项选择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计算机网络与信息安全基础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掌握网络分类、拓扑结构与 OSI 模型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理解 IP 地址、域名与常见协议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了解计算机病毒与信息安全防护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OSI 各层功能对应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TCP 与 UDP 的区别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 课时 · 计算机网络与信息安全基础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计算机网络基础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模块一 · 第 3 课时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按覆盖范围：LAN / MAN / WAN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拓扑结构：总线、星型、环型、树型、网状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OSI 七层：物理、数据链路、网络、传输、会话、表示、应用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考纲一 · 计算机网络与信息安全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15 / 292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 课时 · 计算机网络与信息安全基础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协议与地址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高频考点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TCP/IP 四层：网络接口、网际、传输、应用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TCP 可靠面向连接；UDP 快速无连接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HTTP/HTTPS 浏览网页，FTP 传文件，SMTP 发邮件，POP3 收邮件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DNS 把域名解析为 IP 地址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考纲一 · 计算机网络与信息安全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16 / 292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 课时 · 计算机网络与信息安全基础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信息安全与病毒防治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记忆型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病毒特征：传染性、破坏性、隐蔽性、潜伏性、可触发性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防治：安装杀毒软件、及时更新补丁、不打开可疑附件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加密技术：对称加密与非对称加密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防火墙用于访问控制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考纲一 · 计算机网络与信息安全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17 / 292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 课时 / 共 44 课时 · 第 1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公共基础 · 算法与数据结构基本概念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单项选择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算法与数据结构基本概念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掌握算法的基本特征与复杂度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理解数据结构的逻辑结构与存储结构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区分线性结构与非线性结构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时间复杂度比较与估算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逻辑结构与存储结构的区别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 课时 · 算法与数据结构基本概念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算法及其复杂度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高频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算法五特征：有穷性、确定性、可行性、输入、输出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时间复杂度衡量算法执行时间随规模 n 的增长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从小到大：O(1) &lt; O(log₂n) &lt; O(n) &lt; O(nlog₂n) &lt; O(n²)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空间复杂度衡量额外存储需求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算法与数据结构基本概念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19 / 292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 课时 · 算法与数据结构基本概念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数据结构三要素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核心概念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逻辑结构：数据元素间的抽象关系（线性/非线性）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存储结构：顺序存储 / 链式存储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运算：插入、删除、查找、排序等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线性结构：线性表、栈、队列；非线性：树、图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算法与数据结构基本概念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20 / 292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 课时 / 共 44 课时 · 第 1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公共基础 · 线性表、栈、队列与链表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单项选择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线性表、栈、队列与链表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掌握线性表的顺序存储与插入删除运算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掌握栈与队列的特性及基本运算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理解单链表、双向链表与循环链表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顺序表插入删除的元素移动次数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循环队列元素个数的计算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 课时 · 线性表、栈、队列与链表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线性表与顺序存储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必考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线性表是最简单的线性结构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顺序存储：用一组连续空间存放，可随机存取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插入平均移动 n/2 个元素，删除平均移动 (n-1)/2 个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优点：存取快；缺点：插入删除慢、需连续空间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线性表、栈、队列与链表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22 / 292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 课时 · 线性表、栈、队列与链表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LIFO vs FIFO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栈：后进先出，只能在栈顶插入(入栈)和删除(出栈)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队列：先进先出，队尾入队、队头出队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循环队列用 rear 与 front 判断队满队空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栈常用于表达式求值、递归调用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线性表、栈、队列与链表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23 / 292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 课时 · 线性表、栈、队列与链表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链表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链式存储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单链表结点：数据域 + 后继指针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双向链表结点含前驱与后继两个指针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循环链表尾结点指向头结点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链表插入删除不需移动元素，但需顺序查找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线性表、栈、队列与链表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24 / 292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次课 · 占总课时 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课堂练习安排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单项选择题（与真题题型一致）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上机操作题（在 WPS 中真实完成）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108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练习分钟数（60%）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4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涉及考点：</a:t>
            </a:r>
            <a:r>
              <a:rPr sz="14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计算机系统 · CPU 组成 · 存储器 · 进制转换 · 字符编码 · 汉字编码 · 计算机网络 · 网络协议 · 算法复杂度 · 数制与容量计算 · 进制互转 · 栈与队列 · 线性表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0600"/>
            <a:ext cx="10881360" cy="123444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00600"/>
            <a:ext cx="73152" cy="12344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推荐节奏：</a:t>
            </a:r>
            <a:r>
              <a:rPr sz="1500" b="0" i="0">
                <a:solidFill>
                  <a:srgbClr val="7A4A09"/>
                </a:solidFill>
                <a:latin typeface="Microsoft YaHei"/>
                <a:ea typeface="Microsoft YaHei"/>
                <a:cs typeface="Microsoft YaHei"/>
              </a:rPr>
              <a:t>教师示范 1 题 → 学生独立完成 → 同桌互评 → 教师统一讲评。操作题必须在 WPS 中亲手做一遍，做完对照参考答案自查。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在计算机存储容量单位中，1GB 等于（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1000MB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1024MB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1024KB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1000KB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计算机的运算器和控制器合称为（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主机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中央处理器（CPU）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算术逻辑单元（ALU）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内存储器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下列存储器中，断电后所存信息会全部丢失的是（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ROM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硬盘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U 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26 / 292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计算机系统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存储容量按 2 的幂次换算：1KB=1024B，1MB=1024KB，1GB=1024MB，1TB=1024GB。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2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CPU 组成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运算器与控制器合称中央处理器（CPU）；CPU 与内存储器合称主机。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3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存储器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RAM 为易失性存储器，断电内容全部丢失；ROM、硬盘、U 盘断电后信息仍保留。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27 / 292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二进制数 (1101)₂ 对应的十进制数是（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5.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十进制数 45 转换为二进制数是（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101101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101011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110101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100101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6.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大写字母 A 的 ASCII 码值是（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63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65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28 / 292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4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正确答案：C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进制转换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按权展开：1×8+1×4+0×2+1×1=13。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5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进制转换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45=32+8+4+1，对应二进制 101101（除 2 取余、逆序排列）。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6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正确答案：C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字符编码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常用 ASCII 值：数字 0 为 48，大写 A 为 65，小写 a 为 97。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29 / 292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次课 · 第 7–9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7.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汉字机内码等于国标码加上（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2020H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8080H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A0A0H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1010H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8.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OSI 参考模型自下而上的最底层是（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物理层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数据链路层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网络层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9.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用于接收电子邮件的协议是（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SMTP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POP3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FTP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HTTP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30 / 292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次课 · 第 7–9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7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汉字编码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机内码 = 国标码 + 8080H，用于避免与 ASCII 码冲突。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8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计算机网络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OSI 七层自下而上：物理层、数据链路层、网络层、传输层、会话层、表示层、应用层。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9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网络协议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SMTP 发送邮件，POP3 接收邮件，FTP 传输文件，HTTP/HTTPS 浏览网页。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31 / 292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次课 · 第 10–12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下列时间复杂度中，算法执行效率最高的是（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O(1)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O(n)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O(n²)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O(log₂n)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栈的插入和删除操作遵循的原则是（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先进先出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后进先出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随机存取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双向进出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12.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队列中元素的插入与删除位置分别是（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队头插入、队尾删除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队尾插入、队头删除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均在队头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均在队尾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32 / 292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次课 · 第 10–12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10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算法复杂度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复杂度越小效率越高：O(1) &lt; O(log₂n) &lt; O(n) &lt; O(nlog₂n) &lt; O(n²)。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栈与队列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栈只在栈顶操作，遵循后进先出（LIFO）；队列遵循先进先出（FIFO）。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12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栈与队列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队列在队尾入队、队头出队，遵循先进先出原则。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33 / 292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次课 · 第 13–13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13.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在长度为 n 的顺序表中插入一个元素，平均需要移动的元素个数为（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n/2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(n-1)/2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log₂n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34 / 292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次课 · 第 13–13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13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线性表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顺序表插入平均移动 n/2 个元素，删除平均移动 (n-1)/2 个元素。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35 / 292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次课 · 数制与容量计算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将十进制数 205 转换为二进制和十六进制，并说明 1GB 等于多少 MB。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写出 205 的二进制（除 2 取余、逆序排列）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写出 205 的十六进制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给出 1GB 与 MB 的换算关系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205 ÷ 2 取余逆序 → (11001101)₂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205 = 12×16 + 13 → (CD)₁₆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1GB = 1024MB（2 的幂次换算）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36 / 292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 次课 · 进制互转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将二进制数 10110110 分别转换为八进制和十进制。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 3 位一组转换为八进制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按权展开求和转换为十进制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3 位一组：010 110 110 → (266)₈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按权展开：128+32+16+4+2 = 182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37 / 292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914400"/>
            <a:ext cx="5943600" cy="5943600"/>
          </a:xfrm>
          <a:prstGeom prst="ellipse">
            <a:avLst/>
          </a:prstGeom>
          <a:solidFill>
            <a:srgbClr val="1D4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第 2 次课 / 共 11 次课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2412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公共基础（二）与 WPS 综合应用基础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82296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BCD4EC"/>
                </a:solidFill>
                <a:latin typeface="Microsoft YaHei"/>
                <a:ea typeface="Microsoft YaHei"/>
                <a:cs typeface="Microsoft YaHei"/>
              </a:rPr>
              <a:t>树与二叉树 · 查找与排序 · 程序设计/软件工程 · 数据库 · WPS 综合应用基础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2004181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20041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课时 · 180 分钟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5157" y="3154680"/>
            <a:ext cx="1427378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5157" y="3246120"/>
            <a:ext cx="142737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5–8 课时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10551" y="3154680"/>
            <a:ext cx="3321100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0551" y="3246120"/>
            <a:ext cx="33211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单项选择 + 操作基础 · 单选 20 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94760"/>
            <a:ext cx="6583680" cy="384048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794760"/>
            <a:ext cx="2633472" cy="384048"/>
          </a:xfrm>
          <a:prstGeom prst="rect">
            <a:avLst/>
          </a:prstGeom>
          <a:solidFill>
            <a:srgbClr val="3A5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3794760"/>
            <a:ext cx="3950208" cy="384048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77056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讲授 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877056"/>
            <a:ext cx="39502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课堂练习 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159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提分重点：</a:t>
            </a:r>
            <a:r>
              <a:rPr sz="15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补齐树/查找/软工/数据库概念分，掌握 WPS 界面、文件、PDF 与在线办公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36592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掌握二叉树性质与三种遍历，能由遍历序列还原树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掌握二分查找与排序算法分类及复杂度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理解软件工程与数据库三级模式的基本概念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熟悉 WPS 界面文件操作、PDF 处理与在线办公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5 课时 / 共 44 课时 · 第 2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公共基础 · 树与二叉树、查找与排序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单项选择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树与二叉树、查找与排序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掌握二叉树的定义、性质与遍历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掌握顺序查找与二分查找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掌握常见排序算法的基本思想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二叉树结点数与层数的关系计算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各种排序算法的比较次数与稳定性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5 课时 · 树与二叉树、查找与排序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树与二叉树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重点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树是非线性结构，有且仅有一个根结点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二叉树每个结点最多两棵子树，分左右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性质：第 k 层最多 2^(k-1) 个结点；深度 k 的满二叉树共 2^k-1 个结点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叶子结点数 n0 = 度为 2 的结点数 n2 + 1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树与二叉树、查找与排序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40 / 292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5 课时 · 树与二叉树、查找与排序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二叉树遍历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必考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前序遍历：根 → 左 → 右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中序遍历：左 → 根 → 右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后序遍历：左 → 右 → 根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已知前序+中序或中序+后序可唯一确定一棵二叉树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树与二叉树、查找与排序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41 / 292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5 课时 · 树与二叉树、查找与排序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查找与排序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算法基础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顺序查找：平均比较 (n+1)/2 次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二分查找：要求有序，最多比较 ⌈log₂(n+1)⌉ 次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冒泡/快排属交换类；直接插入/希尔属插入类；简单选择/堆属选择类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快排、堆排、希尔平均 O(nlog₂n)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树与二叉树、查找与排序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42 / 292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6 课时 / 共 44 课时 · 第 2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公共基础 · 程序设计基础与软件工程基础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单项选择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中频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程序设计基础与软件工程基础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理解结构化程序设计与面向对象程序设计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掌握软件生命周期与结构化分析方法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掌握软件测试方法与程序调试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继承与多态的理解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白盒测试与黑盒测试的区别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6 课时 · 程序设计基础与软件工程基础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程序设计基础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结构化程序设计的三种基本结构：顺序、选择、循环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面向对象四要素：对象、类、封装、继承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继承：子类复用父类；多态：同一消息不同响应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面向对象优点：可重用、可维护、可扩展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程序设计基础与软件工程基础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44 / 292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6 课时 · 程序设计基础与软件工程基础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软件工程基础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软件生命周期：软件定义、软件开发、软件维护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结构化分析(SA)：数据流图、数据字典、需求规格说明书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结构化设计(SD)：总体设计 + 详细设计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软件测试：白盒测试(结构)、黑盒测试(功能)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测试步骤：单元→集成→系统(→验收)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程序设计基础与软件工程基础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45 / 292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7 课时 / 共 44 课时 · 第 2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公共基础 · 数据库设计基础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单项选择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中频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数据库设计基础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掌握数据库、数据库管理系统与数据库系统的概念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E-R 模型与关系数据模型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掌握关系代数运算与规范化理论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选择、投影、连接运算的区分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函数依赖与范式判断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7 课时 · 数据库设计基础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数据库基本概念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数据库(DB)：按一定结构组织存储的数据集合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数据库管理系统(DBMS)：管理数据库的软件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数据库系统(DBS) = 数据库 + DBMS + 应用程序 + 人员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数据模型：层次、网状、关系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数据库设计基础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47 / 292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7 课时 · 数据库设计基础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E-R 模型与关系运算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E-R 图三要素：实体(矩形)、属性(椭圆)、联系(菱形)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联系类型：一对一、一对多、多对多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关系运算：并、交、差 + 选择、投影、连接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选择(行)、投影(列)、连接(按条件组合)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数据库设计基础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48 / 292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7 课时 · 数据库设计基础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· 20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数据库设计与规范化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理解为主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设计步骤：需求分析→概念设计→逻辑设计→物理设计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函数依赖、部分依赖、传递依赖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范式：1NF、2NF、3NF、BCNF 逐级消除依赖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规范化目的：减少冗余、避免更新异常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公共基础 · 数据库设计基础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49 / 292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课时 / 共 44 课时 · 第 2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考纲一 · WPS 综合应用基础（界面/文件/PDF/在线办公）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单项选择 + 操作基础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WPS 综合应用基础：界面、文件、PDF 与在线办公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熟悉 WPS 功能界面与窗口视图设置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掌握文件新建、保存、加密、打印等操作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掌握快捷键与快速访问工具栏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PDF 的阅读、批注、编辑与转换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理解文档上云与共享协作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保存与另存为的区别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不同视图的适用场景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PDF 转换后的版式处理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课时 · WPS 综合应用基础：界面、文件、PDF 与在线办公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+ 操作基础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WPS 界面与视图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模块二 · 第 9 课时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三大组件：WPS 文字 / WPS 表格 / WPS 演示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界面：功能区选项卡 + 快速访问工具栏 + 任务窗格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视图：页面、阅读、大纲、Web 版式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窗口视图设置：显示比例、多窗口、拆分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考纲一 · WPS 综合应用基础（界面/文件/PDF/在线办公）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51 / 292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课时 · WPS 综合应用基础：界面、文件、PDF 与在线办公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+ 操作基础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文件基本操作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操作题基础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新建：Ctrl+N；保存：Ctrl+S；另存为：F12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格式：.wps/.docx、.et/.xlsx、.dps/.pptx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文件加密：另存为→工具→常规选项/加密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打印：Ctrl+P，可设置范围、份数、双面、缩放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考纲一 · WPS 综合应用基础（界面/文件/PDF/在线办公）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52 / 292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课时 · WPS 综合应用基础：界面、文件、PDF 与在线办公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+ 操作基础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PDF 处理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模块二 · 第 10 课时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阅读：目录导航、页面缩放、多标签浏览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批注：高亮、下划线、删除线、批注框、手绘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编辑：PDF 转 Word/Excel/PPT、拆分合并、加页码水印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保护：加密、限制编辑、添加水印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考纲一 · WPS 综合应用基础（界面/文件/PDF/在线办公）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53 / 292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公共基础·综合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课时 · WPS 综合应用基础：界面、文件、PDF 与在线办公</a:t>
            </a:r>
            <a:r>
              <a:rPr sz="12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　｜　单项选择 + 操作基础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WPS 在线办公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协作新场景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文档上云：保存到 WPS 云文档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共享协作：生成分享链接、设置权限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多人同时在线编辑、评论与@提醒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历史版本：查看与恢复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创新应用：表单、云会议等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考纲一 · WPS 综合应用基础（界面/文件/PDF/在线办公）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54 / 292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 次课 · 占总课时 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课堂练习安排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单项选择题（与真题题型一致）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上机操作题（在 WPS 中真实完成）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108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练习分钟数（60%）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4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涉及考点：</a:t>
            </a:r>
            <a:r>
              <a:rPr sz="14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二叉树性质 · 二叉树遍历 · 查找算法 · 面向对象 · 软件工程 · 数据库 · 二分查找 · WPS 视图 · PDF 处理 · 文件类型 · 文档基础 · 快捷操作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0600"/>
            <a:ext cx="10881360" cy="123444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00600"/>
            <a:ext cx="73152" cy="12344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推荐节奏：</a:t>
            </a:r>
            <a:r>
              <a:rPr sz="1500" b="0" i="0">
                <a:solidFill>
                  <a:srgbClr val="7A4A09"/>
                </a:solidFill>
                <a:latin typeface="Microsoft YaHei"/>
                <a:ea typeface="Microsoft YaHei"/>
                <a:cs typeface="Microsoft YaHei"/>
              </a:rPr>
              <a:t>教师示范 1 题 → 学生独立完成 → 同桌互评 → 教师统一讲评。操作题必须在 WPS 中亲手做一遍，做完对照参考答案自查。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二叉树第 k 层最多拥有的结点数是（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2^k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2^(k-1)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2^k-1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k²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深度为 k 的满二叉树，其结点总数为（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2^k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2^(k-1)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2^k-1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2k-1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中序遍历二叉树的顺序是（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根→左→右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左→根→右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左→右→根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右→根→左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56 / 292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二叉树性质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二叉树第 k 层最多 2^(k-1) 个结点；深度为 k 的满二叉树共有 2^k-1 个结点。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2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正确答案：C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二叉树性质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满二叉树结点总数 = 2^k - 1。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3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二叉树遍历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前序：根左右；中序：左根右；后序：左右根。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57 / 292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二分查找（折半查找）能够进行的前提是（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表采用链式存储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表中元素有序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表长足够大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元素为整数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5.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下列不属于面向对象三大特性的是（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封装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继承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多态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编译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6.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只关心软件功能、不关心内部结构的测试方法是（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白盒测试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黑盒测试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静态测试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单元测试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58 / 292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4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查找算法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二分查找要求线性表有序且顺序存储，最多比较 ⌈log₂(n+1)⌉ 次。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5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正确答案：D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面向对象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面向对象三大特性为封装、继承、多态；编译属于程序处理过程，不是特性。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6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软件工程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白盒测试关注内部逻辑结构，黑盒测试只关注输入与输出的功能表现。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59 / 292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 次课 · 第 7–9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7.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数据库系统的三级模式结构包括外模式、模式和（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内模式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逻辑模式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物理模式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用户模式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8.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 WPS 文字中同时查看并排列多个已打开文档，应使用（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拆分窗口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重排窗口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并排比较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新建窗口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9.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 WPS 中把 PDF 文件转换为可编辑的 Word 文档，可使用（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输出为 Word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另存为 PDF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导出为图片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打印为 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60 / 292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 次课 · 第 7–9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7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数据库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数据库三级模式为外模式、模式（概念模式）和内模式，两级映射保证数据独立性。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8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WPS 视图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"视图→重排窗口"可将多个文档窗口按水平/垂直等方式平铺排列。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9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PDF 处理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WPS 的"PDF 转 Word/输出为 Word"可将 PDF 转为可编辑文档。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61 / 292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 次课 · 第 10–12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WPS 文字文档的默认扩展名是（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.docx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.xlsx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.pptx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.pdf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为文档添加水印、页面边框，应使用的选项卡是（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页面布局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审阅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12.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将选中文字设置为加粗的快捷键是（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Ctrl+B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Ctrl+I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Ctrl+U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Ctrl+D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62 / 292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 次课 · 第 10–12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10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文件类型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文字文档 .docx，电子表格 .xlsx，演示文稿 .pptx。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正确答案：C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文档基础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水印、页面边框、纸张方向、页边距等均位于"页面布局"选项卡。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12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快捷操作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Ctrl+B 加粗，Ctrl+I 倾斜，Ctrl+U 下划线。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63 / 292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 次课 · 二叉树遍历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已知一棵二叉树的前序遍历为 ABDECF，中序遍历为 DBEAFC，求其后序遍历序列。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由前序确定根，再由中序划分左右子树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逐层还原左右子树结构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按"左—右—根"写出后序序列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前序首字符 A 为根；中序中 A 左侧 DBE 为左子树，右侧 FC 为右子树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左子树：前序 BDE、中序 DBE → 根 B，左 D 右 E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右子树：前序 CF、中序 FC → 根 C，左 F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后序遍历：D E B F C 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64 / 292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 次课 · 二分查找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对有序表 {12,25,33,47,58,69,80} 进行二分查找 58，写出比较过程与比较次数。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写出每次的中间位置与比较元素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说明查找区间的变化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给出总比较次数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区间 [12,80]，中间元素 47，58&gt;47 → 查右半区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区间 [58,80]，中间元素 69，58&lt;69 → 查左半区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区间 [58]，命中 58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共比较 3 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65 / 292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914400"/>
            <a:ext cx="5943600" cy="5943600"/>
          </a:xfrm>
          <a:prstGeom prst="ellipse">
            <a:avLst/>
          </a:prstGeom>
          <a:solidFill>
            <a:srgbClr val="1D4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第 3 次课 / 共 11 次课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2412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文字文档（一）：编辑 · 字体段落 · 样式 · 页面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82296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BCD4EC"/>
                </a:solidFill>
                <a:latin typeface="Microsoft YaHei"/>
                <a:ea typeface="Microsoft YaHei"/>
                <a:cs typeface="Microsoft YaHei"/>
              </a:rPr>
              <a:t>文档基础操作 · 字体与段落格式 · 样式与主题 · 页面布局与分节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2004181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20041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课时 · 180 分钟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5157" y="3154680"/>
            <a:ext cx="1528145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5157" y="3246120"/>
            <a:ext cx="152814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9–12 课时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1318" y="3154680"/>
            <a:ext cx="2845064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1318" y="3246120"/>
            <a:ext cx="284506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文字文档操作题 · 文字 30 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94760"/>
            <a:ext cx="6583680" cy="384048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794760"/>
            <a:ext cx="2633472" cy="384048"/>
          </a:xfrm>
          <a:prstGeom prst="rect">
            <a:avLst/>
          </a:prstGeom>
          <a:solidFill>
            <a:srgbClr val="3A5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3794760"/>
            <a:ext cx="3950208" cy="384048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77056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讲授 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877056"/>
            <a:ext cx="39502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课堂练习 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159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提分重点：</a:t>
            </a:r>
            <a:r>
              <a:rPr sz="15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先做全局设置：字体段落、样式、页面布局一次到位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36592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熟练完成文档创建、编辑、查找替换与打印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准确设置字体与段落格式（首行缩进、行距、段间距）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会用标题样式与主题统一全文格式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掌握页面设置、分栏、分页与分节操作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9 课时 / 共 44 课时 · 第 3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考纲二·1 · 文档创建、编辑、查找替换与打印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文字文档操作题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中频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文档基础操作：创建、编辑、查找替换与打印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掌握文档创建、文本输入与编辑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掌握查找与替换（含格式与特殊字符）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掌握打印设置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通配符查找替换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替换格式（如所有加粗）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9 课时 · 文档基础操作：创建、编辑、查找替换与打印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文档基础操作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模块三 · 第 11 课时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新建/打开/保存，文本输入与编辑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选定：双击选词、三击选段、Ctrl+A 全选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撤销 Ctrl+Z / 重做 Ctrl+Y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查找 Ctrl+F、替换 Ctrl+H、定位 Ctrl+G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考纲二·1 · 文档创建、编辑、查找替换与打印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68 / 292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9 课时 · 文档基础操作：创建、编辑、查找替换与打印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查找与替换进阶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高频考点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替换文本、替换格式（字体、颜色、段落）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替换特殊字符：段落标记 ^p、制表符 ^t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使用通配符：? 任意单字符，* 任意多字符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"全部替换"前先"查找下一处"确认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考纲二·1 · 文档创建、编辑、查找替换与打印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69 / 292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10 课时 / 共 44 课时 · 第 3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考纲二·2 · 字体格式与段落格式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文字文档操作题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字体格式与段落格式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掌握字体、字号、字形、颜色、字符间距设置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掌握段落对齐、缩进、行距、段间距设置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掌握项目符号与编号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首行缩进与悬挂缩进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行距"固定值"与"多倍行距"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10 课时 · 字体格式与段落格式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字体格式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基础但必考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字体、字号、字形（加粗/倾斜/下划线）、颜色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字符间距：缩放、加宽/紧缩、提升/降低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中文与西文字体可分别设置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文字效果：阴影、发光、轮廓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考纲二·2 · 字体格式与段落格式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71 / 292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10 课时 · 字体格式与段落格式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段落格式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高频考点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对齐：左对齐、居中、右对齐、两端对齐、分散对齐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缩进：首行缩进 2 字符、悬挂缩进、左右缩进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行距：单倍、1.5 倍、固定值、多倍行距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段前段后间距，项目符号与自动编号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考纲二·2 · 字体格式与段落格式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72 / 292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课时 / 共 44 课时 · 第 3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考纲二·2 · 样式与主题应用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文字文档操作题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样式与主题应用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理解样式的作用与分类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掌握内置样式的应用与修改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掌握新建样式与样式管理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掌握文档主题的应用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修改样式与直接格式的区别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样式与主题的关系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课时 · 样式与主题应用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样式的概念与作用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模块三核心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样式是一组排版格式的命名集合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使用样式可批量统一格式、便于生成目录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样式类型：段落、字符、链接、表格、列表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修改样式即可全局更新同类文本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考纲二·2 · 样式与主题应用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74 / 292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课时 · 样式与主题应用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应用与修改样式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操作题高频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应用内置样式：开始→样式组，标题1/2/3、正文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修改样式：右键样式→修改→设置字体与段落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新建样式：基于已有样式创建，命名规范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样式检查器与清除格式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考纲二·2 · 样式与主题应用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75 / 292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课时 · 样式与主题应用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文档主题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整体风格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主题 = 主题颜色 + 主题字体 + 主题效果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应用主题可一键统一全文风格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自定义主题颜色与字体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主题与样式的配合使用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考纲二·2 · 样式与主题应用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76 / 292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12 课时 / 共 44 课时 · 第 3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考纲二·5 · 页面布局：页面设置、分栏、分页与分节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文字文档操作题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页面布局：页面设置、分栏、分页与分节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掌握纸张、页边距、方向、版式设置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掌握分栏设置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掌握分页符与分节符的使用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分页符与分节符的区别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分节符各类型的选择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12 课时 · 页面布局：页面设置、分栏、分页与分节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页面设置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操作题基础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纸张：A4/A3、自定义大小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页边距：上下左右、装订线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方向：纵向/横向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文档网格：每行字符数、每页行数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考纲二·5 · 页面布局：页面设置、分栏、分页与分节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78 / 292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12 课时 · 页面布局：页面设置、分栏、分页与分节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分栏与分隔符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高频考点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分栏：页面布局→分栏，可设 1/2/3 栏、栏宽、分隔线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分页符：Ctrl+Enter，强制换页不分节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分节符：下一页、连续、偶数页、奇数页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不同节可独立设置纸张、页边距、页眉页脚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考纲二·5 · 页面布局：页面设置、分栏、分页与分节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79 / 292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 次课 · 占总课时 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课堂练习安排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单项选择题（与真题题型一致）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上机操作题（在 WPS 中真实完成）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108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练习分钟数（60%）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4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涉及考点：</a:t>
            </a:r>
            <a:r>
              <a:rPr sz="14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查找替换 · 段落格式 · 格式分类 · 字体与段落 · 样式 · 分节 · 页面布局 · 分栏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0600"/>
            <a:ext cx="10881360" cy="123444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00600"/>
            <a:ext cx="73152" cy="12344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推荐节奏：</a:t>
            </a:r>
            <a:r>
              <a:rPr sz="1500" b="0" i="0">
                <a:solidFill>
                  <a:srgbClr val="7A4A09"/>
                </a:solidFill>
                <a:latin typeface="Microsoft YaHei"/>
                <a:ea typeface="Microsoft YaHei"/>
                <a:cs typeface="Microsoft YaHei"/>
              </a:rPr>
              <a:t>教师示范 1 题 → 学生独立完成 → 同桌互评 → 教师统一讲评。操作题必须在 WPS 中亲手做一遍，做完对照参考答案自查。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在文档中进行"查找和替换"的快捷键是（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Ctrl+F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Ctrl+H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Ctrl+G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Ctrl+S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要让正文每段首行空两格，应设置（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左缩进 2 字符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首行缩进 2 字符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悬挂缩进 2 字符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段前间距 2 字符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下列选项中，属于段落格式而非字体格式的是（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字号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字体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字体颜色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行距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81 / 292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查找替换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Ctrl+F 为查找，Ctrl+H 为查找和替换，Ctrl+G 为定位。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2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段落格式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段落→特殊格式→首行缩进 2 字符，是中文文档的规范做法。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3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正确答案：D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格式分类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行距、缩进、段前段后间距属于段落格式；字体、字号、颜色、加粗属于字体格式。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82 / 292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为文档标题应用"标题 1"样式，最主要的收益是（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字体变漂亮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可自动生成目录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文件变小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可插入图片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5.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文档中插入分节符的主要作用是（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强制换页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把文档分成可独立设置页面格式的节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插入空白页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删除分页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6.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将纸张方向由纵向改为横向，应使用（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开始→字体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插入→页面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页面布局→纸张方向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审阅→修订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83 / 292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4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样式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应用标题样式后，可基于样式自动生成和更新目录，并保持全文格式统一。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5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分节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分节后可对不同节分别设置页眉页脚、页码、纸张方向、分栏等页面格式。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6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正确答案：C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页面布局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纸张方向、纸张大小、页边距、分栏均在"页面布局"选项卡中设置。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84 / 292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 次课 · 第 7–7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7.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要实现"文档前半部分一栏、后半部分两栏"，应（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直接分栏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插入分节符后分别设置分栏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插入分页符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设置页边距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85 / 292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 次课 · 第 7–7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7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分栏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分栏作用于"节"，需先分节再对不同节分别设置栏数。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86 / 292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 次课 · 查找替换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将全文中所有"WPS"替换为加粗的"WPS Office"，写出操作步骤。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说明打开查找替换的方式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说明替换内容与格式设置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说明批量替换操作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开始→查找替换（Ctrl+H）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查找内容输入 WPS，替换为输入 WPS Office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点击"格式→字体"设置加粗，确认后"全部替换"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87 / 292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 次课 · 字体与段落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将正文设置为：首行缩进 2 字符、行距 1.5 倍、段前段后各 6 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说明选中范围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说明段落对话框中的设置项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说明确认方式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选中正文各段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右键→段落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缩进：特殊格式→首行缩进 2 字符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间距：行距 1.5 倍，段前、段后各 6 磅→确定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88 / 292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914400"/>
            <a:ext cx="5943600" cy="5943600"/>
          </a:xfrm>
          <a:prstGeom prst="ellipse">
            <a:avLst/>
          </a:prstGeom>
          <a:solidFill>
            <a:srgbClr val="1D4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第 4 次课 / 共 11 次课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2412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文字文档（二）：页眉页脚 · 表格 · 图文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82296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BCD4EC"/>
                </a:solidFill>
                <a:latin typeface="Microsoft YaHei"/>
                <a:ea typeface="Microsoft YaHei"/>
                <a:cs typeface="Microsoft YaHei"/>
              </a:rPr>
              <a:t>页眉页脚与页码 · 表格制作与编辑 · 图形图像 · 文本框与文档部件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2004181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20041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课时 · 180 分钟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5157" y="3154680"/>
            <a:ext cx="1628912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5157" y="3246120"/>
            <a:ext cx="16289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13–16 课时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12085" y="3154680"/>
            <a:ext cx="2845064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2085" y="3246120"/>
            <a:ext cx="284506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文字文档操作题 · 文字 30 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94760"/>
            <a:ext cx="6583680" cy="384048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794760"/>
            <a:ext cx="2633472" cy="384048"/>
          </a:xfrm>
          <a:prstGeom prst="rect">
            <a:avLst/>
          </a:prstGeom>
          <a:solidFill>
            <a:srgbClr val="3A5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3794760"/>
            <a:ext cx="3950208" cy="384048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77056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讲授 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877056"/>
            <a:ext cx="39502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课堂练习 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159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提分重点：</a:t>
            </a:r>
            <a:r>
              <a:rPr sz="15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页眉页脚分节设置、表格与图文混排是文字题主要得分点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36592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掌握分节后页眉页脚与页码起始值的设置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掌握表格样式、重复标题行、合并与边框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掌握图片环绕、裁剪与图形组合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会用文本框、文档部件、符号与数学公式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13 课时 / 共 44 课时 · 第 4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考纲二·5 · 页眉、页脚与页码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文字文档操作题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页眉、页脚与页码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掌握页眉页脚的插入与编辑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掌握页码的插入与格式设置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掌握奇偶页不同、首页不同、分节页眉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"同前节/链接到前一条"的理解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页码从指定页重新编号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13 课时 · 页眉、页脚与页码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页眉页脚基础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操作题高频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插入→页眉和页脚，双击页眉区进入编辑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页眉可插入文字、图片、日期、文档部件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页眉横线：边框和底纹设置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页脚常放页码、页数、单位名称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考纲二·5 · 页眉、页脚与页码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91 / 292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13 课时 · 页眉、页脚与页码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页码与分节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难点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插入页码，可设位置与对齐方式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页码格式：Ⅰ,Ⅱ,Ⅲ 或 1,2,3，起始页码可指定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勾选"首页不同""奇偶页不同"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断开"链接到前一条页眉"使各节页眉独立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考纲二·5 · 页眉、页脚与页码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92 / 292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14 课时 / 共 44 课时 · 第 4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考纲二·3 · 文档中表格的制作与编辑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文字文档操作题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表格的制作与编辑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掌握表格的插入与行列编辑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掌握单元格合并拆分与对齐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掌握表格样式、边框底纹与排序计算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文本转表格的分隔符选择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表格公式的单元格引用方式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14 课时 · 表格的制作与编辑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表格创建与编辑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操作题常考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插入表格：指定行列；绘制表格；文本→表格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行列：插入/删除、平均分布、自动调整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合并与拆分单元格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单元格对齐方式（九种）与文字方向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考纲二·3 · 文档中表格的制作与编辑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94 / 292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14 课时 · 表格的制作与编辑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表格美化与计算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进阶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应用表格样式，自定义边框和底纹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设置斜线表头、重复标题行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表格排序：按多关键字排序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表格公式：=SUM(LEFT)、=AVERAGE(ABOVE)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考纲二·3 · 文档中表格的制作与编辑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95 / 292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15 课时 / 共 44 课时 · 第 4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考纲二·4 · 图形、图像对象的编辑处理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文字文档操作题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中频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图形与图像对象的编辑处理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掌握形状、图片的插入与编辑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掌握图片格式与环绕方式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掌握形状组合、对齐与层次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嵌入型与浮动型的区别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各种环绕方式的适用场景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15 课时 · 图形与图像对象的编辑处理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插入与编辑图形图像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操作题常考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形状：线条、矩形、箭头、标注等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图片：来自文件、截图、在线图片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图片编辑：裁剪、旋转、尺寸、亮度对比度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图片样式与艺术效果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考纲二·4 · 图形、图像对象的编辑处理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97 / 292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15 课时 · 图形与图像对象的编辑处理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环绕与对象管理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易错点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环绕方式：嵌入型 / 四周型 / 紧密型 / 上下型 / 衬于文字下方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嵌入型随文字移动，浮动型可自由定位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组合多个对象、对齐与分布、叠放次序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图片与形状的层次关系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考纲二·4 · 图形、图像对象的编辑处理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98 / 292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16 课时 / 共 44 课时 · 第 4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考纲二·4 · 文本框、文档部件、符号与数学公式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文字文档操作题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中频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文本框、文档部件、符号与数学公式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掌握文本框与艺术字的插入编辑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掌握文档部件的使用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掌握符号、特殊符号与数学公式的输入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文本框与艺术字的区别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域与普通文本的区别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16 课时 · 文本框、文档部件、符号与数学公式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文本框与艺术字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排版利器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文本框：绘制、调整、文字方向、内部边距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文本框链接：文本从一框流向另一框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艺术字：样式、文本转换（弯曲/路径）、三维效果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文本框与形状的填充/轮廓设置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考纲二·4 · 文本框、文档部件、符号与数学公式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100 / 292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16 课时 · 文本框、文档部件、符号与数学公式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符号、公式与文档部件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易忽略考点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插入符号与特殊符号（©、™、→ 等）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数学公式：内置公式、手写识别、LaTeX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文档部件：自动图文集、文档属性、域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域：页码、日期、目录等自动更新内容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考纲二·4 · 文本框、文档部件、符号与数学公式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101 / 292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 次课 · 占总课时 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课堂练习安排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单项选择题（与真题题型一致）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上机操作题（在 WPS 中真实完成）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108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练习分钟数（60%）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4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涉及考点：</a:t>
            </a:r>
            <a:r>
              <a:rPr sz="14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页码 · 表格 · 分节与页眉页脚 · 表格制作 · 图片环绕 · 图形组合 · 文档部件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0600"/>
            <a:ext cx="10881360" cy="123444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00600"/>
            <a:ext cx="73152" cy="12344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推荐节奏：</a:t>
            </a:r>
            <a:r>
              <a:rPr sz="1500" b="0" i="0">
                <a:solidFill>
                  <a:srgbClr val="7A4A09"/>
                </a:solidFill>
                <a:latin typeface="Microsoft YaHei"/>
                <a:ea typeface="Microsoft YaHei"/>
                <a:cs typeface="Microsoft YaHei"/>
              </a:rPr>
              <a:t>教师示范 1 题 → 学生独立完成 → 同桌互评 → 教师统一讲评。操作题必须在 WPS 中亲手做一遍，做完对照参考答案自查。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要求正文页码从 1 开始、封面不显示页码，正确做法是（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直接插入页码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在封面后分节并取消"链接到前一节"后设置起始页码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删除封面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设置不同的页边距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使表格的标题行在每一页都重复出现，应设置（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重复标题行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拆分表格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固定列宽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合并单元格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下列不属于表格自动调整方式的是（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根据内容调整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根据窗口调整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固定列宽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根据字体大小调整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103 / 292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页码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先分节，再在正文节页脚中取消与前一节的链接，最后设置页码起始值为 1。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2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表格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选中标题行→表格工具→"重复标题行"，可让标题行跨页重复显示。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3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正确答案：D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表格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表格自动调整有"根据内容""根据窗口""固定列宽"三种，没有"根据字体大小"。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104 / 292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希望文字环绕在图片四周，图片的环绕方式应设为（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嵌入型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四周型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浮于文字上方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衬于文字下方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5.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将多个图形组合为一个整体，正确的操作是（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按住 Ctrl 依次选中后组合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按住 Shift 后删除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直接拖动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设置相同颜色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6.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插入预设封面、页眉页脚库等，可使用（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插入→文档部件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开始→样式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页面布局→页面设置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审阅→修订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105 / 292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4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图片环绕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四周型环绕使文字沿图片四周排列；嵌入型图片不参与文字环绕。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5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图形组合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按住 Ctrl 多选图形后右键"组合"，可整体移动与设置格式。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6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文档部件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插入→文档部件可插入封面、页眉、页脚、页码、文本框等预设构件。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106 / 292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 次课 · 分节与页眉页脚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要求：封面不显示页眉页脚；正文页眉为"二级 WPS 培训"，页脚页码从 1 开始。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说明分节位置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说明取消链接的操作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说明页眉与页码设置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光标置于封面末尾→页面布局→分隔符→分节符（下一页）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双击正文页眉→在页眉页脚工具中取消"同前节/链接到前一节"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输入页眉文字"二级 WPS 培训"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页脚插入页码→设置页码格式→起始页码为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107 / 292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 次课 · 表格制作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制作一张课程表：首行合并居中作标题，标题行跨页重复，全表内容垂直居中。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说明合并与居中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说明重复标题行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说明单元格对齐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插入表格→选中首行→右键合并单元格→水平居中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选中标题行→表格工具→重复标题行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全选表格→单元格对齐方式→垂直居中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108 / 292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914400"/>
            <a:ext cx="5943600" cy="5943600"/>
          </a:xfrm>
          <a:prstGeom prst="ellipse">
            <a:avLst/>
          </a:prstGeom>
          <a:solidFill>
            <a:srgbClr val="1D4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第 5 次课 / 共 11 次课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2412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文字文档（三）：引用 · 审阅 · 邮件合并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82296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BCD4EC"/>
                </a:solidFill>
                <a:latin typeface="Microsoft YaHei"/>
                <a:ea typeface="Microsoft YaHei"/>
                <a:cs typeface="Microsoft YaHei"/>
              </a:rPr>
              <a:t>内容引用（目录/题注/交叉引用/脚注尾注） · 审阅与修订 · 邮件合并 · 图文素材综合应用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2004181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20041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课时 · 180 分钟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5157" y="3154680"/>
            <a:ext cx="1628912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5157" y="3246120"/>
            <a:ext cx="16289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17–20 课时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12085" y="3154680"/>
            <a:ext cx="2845064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2085" y="3246120"/>
            <a:ext cx="284506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文字文档操作题 · 文字 30 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94760"/>
            <a:ext cx="6583680" cy="384048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794760"/>
            <a:ext cx="2633472" cy="384048"/>
          </a:xfrm>
          <a:prstGeom prst="rect">
            <a:avLst/>
          </a:prstGeom>
          <a:solidFill>
            <a:srgbClr val="3A5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3794760"/>
            <a:ext cx="3950208" cy="384048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77056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讲授 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877056"/>
            <a:ext cx="39502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课堂练习 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159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提分重点：</a:t>
            </a:r>
            <a:r>
              <a:rPr sz="15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目录、题注、交叉引用与邮件合并流程固定，属必得分项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36592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基于标题样式生成并更新目录，会插入题注与交叉引用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掌握脚注尾注与审阅修订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按固定流程完成邮件合并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掌握多窗口多文档编辑与图文素材提取引用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17 课时 / 共 44 课时 · 第 5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考纲二·5 · 文档内容引用（目录/题注/交叉引用/脚注尾注）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文字文档操作题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文档内容引用：目录、题注、交叉引用与脚注尾注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掌握自动生成目录与更新目录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掌握题注与交叉引用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掌握脚注与尾注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掌握书签的使用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题注与交叉引用的配合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脚注与尾注的区别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17 课时 · 文档内容引用：目录、题注、交叉引用与脚注尾注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目录与题注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长篇文档必备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目录：引用→目录，基于标题样式自动生成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更新目录：更新页码/整个目录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题注：为图片、表格自动编号并加标签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交叉引用：引用题注、标题、书签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考纲二·5 · 文档内容引用（目录/题注/交叉引用/脚注尾注）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111 / 292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17 课时 · 文档内容引用：目录、题注、交叉引用与脚注尾注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脚注、尾注与书签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引用体系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脚注位于页面底部，尾注位于文档末尾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编号格式：数字、罗马数字、符号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书签：标记位置，可被交叉引用引用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题注+交叉引用=图表自动编号与引用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考纲二·5 · 文档内容引用（目录/题注/交叉引用/脚注尾注）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112 / 292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18 课时 / 共 44 课时 · 第 5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考纲二·6 · 文档审阅与修订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文字文档操作题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中频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文档审阅与修订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掌握批注的添加与删除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掌握修订的开启、接受与拒绝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掌握文档比较与合并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掌握文档保护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修订与批注的区别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接受全部修订与拒绝全部修订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18 课时 · 文档审阅与修订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批注与修订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协作审阅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批注：对内容提出意见，不改变正文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修订：记录插入、删除、格式更改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审阅→修订，可逐条接受或拒绝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显示标记：简单标记、所有标记、无标记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考纲二·6 · 文档审阅与修订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114 / 292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18 课时 · 文档审阅与修订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比较合并与文档保护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进阶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比较文档：显示两版差异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合并文档：整合多人修订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限制编辑：只读、仅允许批注/窗体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文档加密与权限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考纲二·6 · 文档审阅与修订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115 / 292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19 课时 / 共 44 课时 · 第 5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考纲二·7 · 邮件合并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文字文档操作题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邮件合并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理解邮件合并的原理与流程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掌握主文档与数据源的创建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掌握合并域的插入与规则使用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掌握批量生成文档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合并域与普通文本的区别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规则的灵活运用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19 课时 · 邮件合并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邮件合并原理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模块三压轴考点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邮件合并 = 固定模板 + 结构化数据 + 字段占位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典型应用：邀请函、成绩单、工资条、通知书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主文档：含固定内容与合并域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数据源：Excel 表格（每行一条记录）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考纲二·7 · 邮件合并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117 / 292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19 课时 · 邮件合并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操作流程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动手步骤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① 打开主文档 → ② 选择数据源 → ③ 插入合并域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④ 预览结果 → ⑤ 完成合并（生成新文档/直接打印）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规则：如果…则…否则 实现条件显示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合并到不同文档或合并到打印机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考纲二·7 · 邮件合并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118 / 292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20 课时 / 共 44 课时 · 第 5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考纲二·8/9 · 多窗口多文档、视图与图文素材综合应用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文字文档操作题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中频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多窗口多文档编辑与图文素材综合应用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掌握多窗口与多文档的编辑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掌握文档视图的使用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掌握图文素材的分析与信息提取引用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并排比较与拆分窗口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大纲视图的层级操作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20 课时 · 多窗口多文档编辑与图文素材综合应用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多窗口与多文档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效率技巧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新建窗口：同一文档开两个窗口对比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全部重排、并排查看、同步滚动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同时打开多个文档，在任务栏/窗口间切换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拆分窗口便于长文档编辑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考纲二·8/9 · 多窗口多文档、视图与图文素材综合应用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120 / 292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WPS 文字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20 课时 · 多窗口多文档编辑与图文素材综合应用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　｜　文字文档操作题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视图与素材综合应用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综合能力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页面视图：所见即所得；大纲视图：调整结构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阅读版式：便于审阅；Web 版式：网页效果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分析图文素材，提取关键信息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把提取的信息按需求引用到文档中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考纲二·8/9 · 多窗口多文档、视图与图文素材综合应用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121 / 292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5 次课 · 占总课时 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课堂练习安排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单项选择题（与真题题型一致）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上机操作题（在 WPS 中真实完成）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108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练习分钟数（60%）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4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涉及考点：</a:t>
            </a:r>
            <a:r>
              <a:rPr sz="14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目录 · 题注 · 交叉引用 · 目录更新 · 脚注 · 审阅 · 目录与题注 · 审阅修订 · 邮件合并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0600"/>
            <a:ext cx="10881360" cy="123444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00600"/>
            <a:ext cx="73152" cy="12344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推荐节奏：</a:t>
            </a:r>
            <a:r>
              <a:rPr sz="1500" b="0" i="0">
                <a:solidFill>
                  <a:srgbClr val="7A4A09"/>
                </a:solidFill>
                <a:latin typeface="Microsoft YaHei"/>
                <a:ea typeface="Microsoft YaHei"/>
                <a:cs typeface="Microsoft YaHei"/>
              </a:rPr>
              <a:t>教师示范 1 题 → 学生独立完成 → 同桌互评 → 教师统一讲评。操作题必须在 WPS 中亲手做一遍，做完对照参考答案自查。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5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自动生成目录的依据是（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正文内容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标题样式（大纲级别）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书签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批注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为文档中的图片自动编号（图 1、图 2……），应使用（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文本框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题注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批注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书签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下列不能作为交叉引用对象的是（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标题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题注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书签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页面背景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123 / 292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5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目录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目录基于标题样式或大纲级别生成，标题变化后可通过"更新目录"刷新。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2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题注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引用→题注可为图片、表格自动编号，并支持交叉引用。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3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正确答案：D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交叉引用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交叉引用可引用标题、题注、书签、脚注、编号项等，不能引用页面背景。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124 / 292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5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修改正文后目录页码不一致，应（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重新生成整篇文档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右键目录→更新域→更新整个目录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手动逐条修改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删除目录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5.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脚注通常出现在（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文档开头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页面底部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文档末尾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页眉中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6.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开启"修订"功能应使用的选项卡是（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审阅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视图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125 / 292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5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4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目录更新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右键目录→更新域→"更新整个目录"即可同步页码与标题。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5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脚注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脚注位于当前页底部，尾注位于文档或节的末尾。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6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正确答案：C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审阅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"审阅"选项卡提供修订、批注、更改接受与拒绝、文档比较等功能。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126 / 292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5 次课 · 第 7–8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7.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邮件合并中，主文档与数据源的关系是（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主文档提供可变数据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数据源提供固定内容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主文档含固定内容、数据源提供可变数据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两者内容完全相同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8.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在邮件合并中插入收件人姓名，应使用（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插入文本框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插入合并域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插入书签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插入批注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127 / 292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5 次课 · 第 7–8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7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正确答案：C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邮件合并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主文档包含固定不变的正文与版式，数据源提供姓名、成绩等可变信息。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8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邮件合并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"插入合并域"把数据源中的字段插入主文档对应位置，预览时逐条替换。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128 / 292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5 次课 · 目录与题注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为文档生成三级目录，为 3 张图片添加题注（图 1、图 2、图 3），并在正文中交叉引用"图 2"。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说明目录生成前提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说明题注插入方法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说明交叉引用步骤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为各级标题应用"标题 1/2/3"样式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引用→目录→自动目录（显示 3 级）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选中图片→引用→题注→选择标签"图"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正文处→插入→交叉引用→引用类型"图"→选择"图 2"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129 / 292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5 次课 · 审阅修订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开启修订，把"二级考试"改为"NCRE 二级考试"，然后接受全部修订并关闭修订。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说明开启修订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说明修改与接受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说明关闭修订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审阅→修订→开始修订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将文字改为 NCRE 二级考试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审阅→接受→接受所有修订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再次点击"修订"关闭修订状态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130 / 292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5 次课 · 邮件合并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制作 30 份"结业证书"，姓名与成绩来自 Excel 数据源，写出操作步骤。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说明主文档与数据源准备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说明选择收件人与插入合并域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说明生成结果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准备证书主文档，并准备含姓名、成绩的 Excel 数据源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邮件→选择收件人→使用现有列表→选中数据源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在证书对应位置插入"姓名""成绩"合并域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预览结果→完成并合并→编辑单个文档，生成 30 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131 / 292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914400"/>
            <a:ext cx="5943600" cy="5943600"/>
          </a:xfrm>
          <a:prstGeom prst="ellipse">
            <a:avLst/>
          </a:prstGeom>
          <a:solidFill>
            <a:srgbClr val="1D4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第 6 次课 / 共 11 次课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2412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电子表格（一）：工作表 · 格式 · 公式函数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82296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BCD4EC"/>
                </a:solidFill>
                <a:latin typeface="Microsoft YaHei"/>
                <a:ea typeface="Microsoft YaHei"/>
                <a:cs typeface="Microsoft YaHei"/>
              </a:rPr>
              <a:t>工作簿与工作表 · 数据输入与单元格格式 · 单元格引用与公式 · 数学统计与逻辑函数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2004181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20041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课时 · 180 分钟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5157" y="3154680"/>
            <a:ext cx="1628912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5157" y="3246120"/>
            <a:ext cx="16289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21–24 课时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12085" y="3154680"/>
            <a:ext cx="2845064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2085" y="3246120"/>
            <a:ext cx="284506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电子表格操作题 · 表格 30 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94760"/>
            <a:ext cx="6583680" cy="384048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794760"/>
            <a:ext cx="2633472" cy="384048"/>
          </a:xfrm>
          <a:prstGeom prst="rect">
            <a:avLst/>
          </a:prstGeom>
          <a:solidFill>
            <a:srgbClr val="3A5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3794760"/>
            <a:ext cx="3950208" cy="384048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77056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讲授 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877056"/>
            <a:ext cx="39502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课堂练习 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159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提分重点：</a:t>
            </a:r>
            <a:r>
              <a:rPr sz="15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引用方式决定公式对错，是表格题的第一关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36592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掌握工作表基本操作、视图与打印输出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掌握数据输入、填充与单元格格式化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正确使用相对/绝对/混合引用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熟练运用 SUM/AVERAGE/COUNTIF/IF 等函数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21 课时 / 共 44 课时 · 第 6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考纲三·1 · 工作簿与工作表基本操作、视图与打印输出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电子表格操作题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中频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工作簿与工作表基本操作、视图控制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掌握工作簿与工作表的新建、重命名、移动复制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掌握行列表格的插入删除与冻结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掌握窗口视图控制与拆分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冻结窗格与拆分窗口的区别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移动与复制工作表的操作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21 课时 · 工作簿与工作表基本操作、视图控制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工作簿与工作表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模块四 · 第 23 课时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工作簿是文件，工作表是其中的一张张表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插入、重命名、移动、复制、删除工作表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按住 Ctrl 拖动可复制工作表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设置工作表标签颜色、保护工作表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考纲三·1 · 工作簿与工作表基本操作、视图与打印输出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134 / 292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21 课时 · 工作簿与工作表基本操作、视图控制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视图与窗口控制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效率操作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调整行高列宽：双击边界自动适应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冻结窗格：冻结首行/首列/拆分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拆分窗口：把工作表分成可独立滚动的区域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视图切换：普通 / 分页预览 / 页面布局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考纲三·1 · 工作簿与工作表基本操作、视图与打印输出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135 / 292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22 课时 / 共 44 课时 · 第 6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考纲三·2 · 数据输入编辑与单元格格式化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电子表格操作题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数据输入编辑与单元格格式化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掌握各种数据的输入与填充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掌握数字格式与自定义格式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掌握单元格格式设置与条件格式入门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文本型数字与数值型数字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自定义格式代码的含义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22 课时 · 数据输入编辑与单元格格式化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数据输入与填充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基础但高频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数值右对齐、文本左对齐、逻辑居中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日期用 / 或 - 输入，如 2026/3/1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自动填充：拖动填充柄、序列、自定义序列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快速填充 Ctrl+E 智能提取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考纲三·2 · 数据输入编辑与单元格格式化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137 / 292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22 课时 · 数据输入编辑与单元格格式化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单元格格式化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操作题常考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数字格式：数值、货币、会计专用、百分比、日期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自定义格式：0.00、#,##0、¥#,##0.00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对齐、自动换行、缩小字体填充、合并单元格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边框、底纹、单元格样式、条件格式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考纲三·2 · 数据输入编辑与单元格格式化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138 / 292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23 课时 / 共 44 课时 · 第 6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考纲三·4 · 单元格引用与公式基础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电子表格操作题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单元格引用与公式基础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掌握相对引用、绝对引用、混合引用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掌握公式的输入与运算符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掌握跨工作表与跨工作簿引用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三种引用在下拉/右拉时的变化规律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绝对引用在 VLOOKUP 中的作用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23 课时 · 单元格引用与公式基础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单元格引用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表格核心基石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相对引用 A1：行列随位置变化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绝对引用 $A$1：行列都不变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混合引用 $A1（列锁定）或 A$1（行锁定）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 F4 可在四种形式间循环切换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考纲三·4 · 单元格引用与公式基础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140 / 292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23 课时 · 单元格引用与公式基础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公式与跨表引用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必考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公式以 = 开头，如 =A1+B1、=A1&amp;"元"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运算符：+ - * / ^、&gt; &lt; =、&amp;、: , 空格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跨工作表：Sheet2!A1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跨工作簿：[成绩.xlsx]Sheet1!$B$2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考纲三·4 · 单元格引用与公式基础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141 / 292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24 课时 / 共 44 课时 · 第 6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考纲三·4 · 数学统计函数与逻辑函数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电子表格操作题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常用函数：数学统计函数与逻辑函数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SUM、AVERAGE、MAX、MIN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COUNT、COUNTA、COUNTBLANK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ROUND、ROUNDUP、ROUNDDOWN、INT、ABS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RANK 排名与 ROUND 四舍五入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IF 函数与嵌套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COUNT 与 COUNTA 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ROUND 与 INT 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RANK 第二参数需绝对引用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24 课时 · 常用函数：数学统计函数与逻辑函数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求和与统计函数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高频必考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=SUM(A1:A10) 求和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=AVERAGE(B2:B20) 求平均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=MAX(区域) / =MIN(区域) 求最值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=COUNT(区域) 统计数值个数；=COUNTA(区域) 统计非空个数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考纲三·4 · 数学统计函数与逻辑函数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143 / 292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24 课时 · 常用函数：数学统计函数与逻辑函数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取整与排名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易错点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=ROUND(数值,小数位) 四舍五入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=ROUNDUP / =ROUNDDOWN 向上/向下舍入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=INT(数值) 向下取整；=ABS(数值) 取绝对值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=RANK(数值, 区域, 0) 降序排名，区域要绝对引用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考纲三·4 · 数学统计函数与逻辑函数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144 / 292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24 课时 · 常用函数：数学统计函数与逻辑函数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IF 与逻辑函数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必考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=IF(A2&gt;=60,"及格","不及格")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=AND(条件1,条件2) 全真才真；=OR 有真即真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=NOT(条件) 取反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=IF(AND(A2&gt;=60,B2&gt;=60),"通过","不通过")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考纲三·4 · 数学统计函数与逻辑函数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145 / 292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24 课时 · 常用函数：数学统计函数与逻辑函数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多级嵌套与容错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难点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多级：=IF(A2&gt;=90,"优",IF(A2&gt;=80,"良",IF(A2&gt;=60,"及格","不及格")))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注意判断顺序从高到低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=IFERROR(表达式, 出错时显示的值) 处理除零、查无结果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=IFNA 专门处理 #N/A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考纲三·4 · 数学统计函数与逻辑函数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146 / 292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6 次课 · 占总课时 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课堂练习安排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单项选择题（与真题题型一致）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上机操作题（在 WPS 中真实完成）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108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练习分钟数（60%）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4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涉及考点：</a:t>
            </a:r>
            <a:r>
              <a:rPr sz="14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表格视图 · 工作表 · 数据输入 · 单元格格式 · 数据填充 · 合并单元格 · 单元格引用 · 统计函数 · 逻辑函数 · 公式与函数 · 条件统计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0600"/>
            <a:ext cx="10881360" cy="123444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00600"/>
            <a:ext cx="73152" cy="12344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推荐节奏：</a:t>
            </a:r>
            <a:r>
              <a:rPr sz="1500" b="0" i="0">
                <a:solidFill>
                  <a:srgbClr val="7A4A09"/>
                </a:solidFill>
                <a:latin typeface="Microsoft YaHei"/>
                <a:ea typeface="Microsoft YaHei"/>
                <a:cs typeface="Microsoft YaHei"/>
              </a:rPr>
              <a:t>教师示范 1 题 → 学生独立完成 → 同桌互评 → 教师统一讲评。操作题必须在 WPS 中亲手做一遍，做完对照参考答案自查。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6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冻结窗格的主要作用是（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保护数据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滚动时保持指定行列始终可见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隐藏行列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打印标题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重命名工作表最快捷的方法是（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双击工作表标签后输入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新建工作表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右键删除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 Ctrl+S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输入 18 位身份证号并保持原样，应先将单元格格式设为（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常规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文本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科学记数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148 / 292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6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表格视图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冻结窗格可在滚动工作表时保持首行/首列等区域始终显示，便于对照。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2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工作表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双击工作表标签即可进入编辑状态，直接输入新名称。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3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正确答案：C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数据输入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长数字设为"文本"格式可避免被转换为科学记数法或丢失末尾精度。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149 / 292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6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在数字后统一添加单位"分"，可使用自定义格式（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0.0"分"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0.0分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#分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@分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5.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在多个不连续单元格中快速输入相同内容，可按（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Ctrl+Enter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Ctrl+C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Ctrl+V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Alt+Enter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6.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合并单元格后，原区域中的数据（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全部保留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仅保留左上角单元格数据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仅保留右下角数据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自动求和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150 / 292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6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4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单元格格式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自定义格式中用英文双引号包裹文本，如 0.0"分"，显示为保留 1 位小数并带单位。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5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数据填充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选中多个单元格后输入内容并按 Ctrl+Enter，可一次填充到所有选中单元格。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6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合并单元格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合并单元格只保留左上角单元格的内容，其余内容会被清除。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151 / 292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6 次课 · 第 7–9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7.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绝对引用的正确表示形式是（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A1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$A$1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A$1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$A1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8.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公式 =SUM(A1:A3) 下拉填充到下一行后变为（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=SUM(A1:A3)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=SUM(A2:A4)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=SUM($A$1:$A$3)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=SUM(A1:A4)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9.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计算一组数据的平均值应使用函数（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SUM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AVERAGE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COUNT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152 / 292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6 次课 · 第 7–9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7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单元格引用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$A$1 为绝对引用，行列均锁定；A$1 与 $A1 为混合引用，A1 为相对引用。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8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单元格引用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相对引用会随填充位置下移一行，变为 =SUM(A2:A4)。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9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统计函数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AVERAGE 求平均值；SUM 求和，COUNT 计数，MAX/MIN 求最大最小值。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153 / 292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6 次课 · 第 10–12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统计满足指定条件的单元格求和，应使用（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SUM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SUMIF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COUNTIF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IF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统计"班级"列中等于"一班"的单元格个数，应使用（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COUNT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COUNTIF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SUMIF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COUNTA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12.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判断成绩是否及格（≥60）并显示"及格/不及格"，应使用（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IF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SUM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VLOOKUP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RANK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154 / 292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6 次课 · 第 10–12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10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统计函数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SUMIF 单条件求和，SUMIFS 多条件求和，COUNTIF/COUNTIFS 为条件计数。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统计函数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COUNTIF(区域,条件) 统计满足条件的单元格个数。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12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逻辑函数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=IF(成绩&gt;=60,"及格","不及格")，多级判断可用 IF 嵌套。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155 / 292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6 次课 · 单元格格式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将 A 列学号设置为文本格式，将 B 列成绩设置为保留 1 位小数并显示"分"。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说明学号列设置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说明成绩列自定义格式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说明应用方式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选中 A 列→右键设置单元格格式→文本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选中 B 列→设置单元格格式→自定义→输入 0.0"分"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确定应用，检查显示效果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156 / 292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6 次课 · 公式与函数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求每位学生的总分与平均分，并按平均分评定等级：≥85 优秀，≥60 及格，否则不及格。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写出总分与平均分公式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写出等级判断的 IF 嵌套公式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说明引用方式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总分：=SUM(B2:D2)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平均分：=AVERAGE(B2:D2)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等级：=IF(E2&gt;=85,"优秀",IF(E2&gt;=60,"及格","不及格"))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下拉填充至所有行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157 / 292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6 次课 · 条件统计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统计男生人数与男生平均分（性别在 C 列、成绩在 E 列）。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写出条件计数公式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写出条件平均公式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男生人数：=COUNTIF(C2:C51,"男")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男生平均分：=AVERAGEIF(C2:C51,"男",E2:E51)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158 / 292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914400"/>
            <a:ext cx="5943600" cy="5943600"/>
          </a:xfrm>
          <a:prstGeom prst="ellipse">
            <a:avLst/>
          </a:prstGeom>
          <a:solidFill>
            <a:srgbClr val="1D4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第 7 次课 / 共 11 次课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2412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电子表格（二）：查找引用 · 文本日期 · 排序筛选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82296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BCD4EC"/>
                </a:solidFill>
                <a:latin typeface="Microsoft YaHei"/>
                <a:ea typeface="Microsoft YaHei"/>
                <a:cs typeface="Microsoft YaHei"/>
              </a:rPr>
              <a:t>查找与引用函数 · 文本函数与日期函数 · 数组公式 · 排序与筛选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2004181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20041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课时 · 180 分钟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5157" y="3154680"/>
            <a:ext cx="1628912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5157" y="3246120"/>
            <a:ext cx="16289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25–28 课时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12085" y="3154680"/>
            <a:ext cx="2845064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2085" y="3246120"/>
            <a:ext cx="284506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电子表格操作题 · 表格 30 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94760"/>
            <a:ext cx="6583680" cy="384048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794760"/>
            <a:ext cx="2633472" cy="384048"/>
          </a:xfrm>
          <a:prstGeom prst="rect">
            <a:avLst/>
          </a:prstGeom>
          <a:solidFill>
            <a:srgbClr val="3A5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3794760"/>
            <a:ext cx="3950208" cy="384048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77056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讲授 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877056"/>
            <a:ext cx="39502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课堂练习 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159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提分重点：</a:t>
            </a:r>
            <a:r>
              <a:rPr sz="15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VLOOKUP 与文本日期函数是表格题高频大题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36592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熟练使用 VLOOKUP/INDEX/MATCH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 LEFT/RIGHT/MID/TEXT 与日期函数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理解数组公式与高级函数综合应用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掌握多关键字排序、自动筛选与高级筛选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25 课时 / 共 44 课时 · 第 7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考纲三·4 · 查找与引用函数（VLOOKUP/INDEX/MATCH）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电子表格操作题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查找与引用函数（VLOOKUP / INDEX / MATCH）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VLOOKUP 精确与近似查找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HLOOKUP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INDEX 与 MATCH 组合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MATCH 的三种匹配方式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VLOOKUP 第四参数的含义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近似匹配对数据排序的要求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INDEX+MATCH 相比 VLOOKUP 的优势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25 课时 · 查找与引用函数（VLOOKUP / INDEX / MATCH）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VLOOKUP 精确查找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表格第一考点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=VLOOKUP(A2, $D$2:$F$50, 3, 0)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查找值必须在查找区域的第 1 列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第 3 参数是从区域首列起的列序号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第 4 参数 0/FALSE 精确匹配（最常用）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考纲三·4 · 查找与引用函数（VLOOKUP/INDEX/MATCH）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161 / 292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25 课时 · 查找与引用函数（VLOOKUP / INDEX / MATCH）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VLOOKUP 近似匹配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易错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第 4 参数为 1/TRUE 时近似匹配（区间查找）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近似匹配要求查找区域首列升序排列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常用于分数等级、税率区间等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=VLOOKUP(A2,$H$2:$I$6,2,1)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考纲三·4 · 查找与引用函数（VLOOKUP/INDEX/MATCH）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162 / 292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25 课时 · 查找与引用函数（VLOOKUP / INDEX / MATCH）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INDEX + 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进阶组合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=MATCH(A2, $D$2:$D$50, 0) 返回位置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=INDEX($F$2:$F$50, MATCH(A2,$D$2:$D$50,0))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优势：可向左查找、不受插入列影响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MATCH 第三参数 0 精确、1 小于、-1 大于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考纲三·4 · 查找与引用函数（VLOOKUP/INDEX/MATCH）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163 / 292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26 课时 / 共 44 课时 · 第 7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考纲三·4 · 文本函数与日期时间函数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电子表格操作题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文本函数与日期时间函数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LEFT、RIGHT、MID、LEN、FIND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TEXT、CONCAT/TEXTJOIN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TODAY、NOW、YEAR、MONTH、DAY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DATEDIF 与日期计算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FIND 与 SEARCH 的区别（区分大小写）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文本型日期与日期型日期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26 课时 · 文本函数与日期时间函数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文本函数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=LEFT(A2,3) / =RIGHT(A2,4) / =MID(A2,3,2)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=LEN(A2) 字符长度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=FIND("省",A2) 定位（区分大小写）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=TEXT(A2,"0000") 或 =TEXT(A2,"yyyy年mm月")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考纲三·4 · 文本函数与日期时间函数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165 / 292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26 课时 · 文本函数与日期时间函数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日期时间函数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实用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=TODAY() 今天；=NOW() 此刻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=YEAR(A2) / =MONTH(A2) / =DAY(A2)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=DATEDIF(起始, 结束, "y"/"m"/"d") 计算年龄工龄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日期可直接相减得到天数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考纲三·4 · 文本函数与日期时间函数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166 / 292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27 课时 / 共 44 课时 · 第 7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考纲三·4 · 数组公式与高级函数综合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电子表格操作题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中频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数组公式与高级函数综合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理解数组公式的概念与输入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SUMIF、SUMIFS、COUNTIF、COUNTIFS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 SUMPRODUCT 与数组运算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掌握函数的综合嵌套应用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SUMIF 与 SUMIFS 参数顺序差异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多条件求和的写法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27 课时 · 数组公式与高级函数综合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条件统计函数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必考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=SUMIF(B2:B50,"一班",C2:C50) 单条件求和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=SUMIFS(C2:C50,B2:B50,"一班",D2:D50,"&gt;80") 多条件求和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=COUNTIF(B2:B50,"一班") 条件计数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=COUNTIFS(...) 多条件计数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考纲三·4 · 数组公式与高级函数综合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168 / 292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27 课时 · 数组公式与高级函数综合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数组公式与 SUMPRODUCT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进阶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数组公式输入后显示 {}，按 Ctrl+Shift+Enter 确认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=SUM((A2:A10&gt;60)*(B2:B10)) 数组求和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=SUMPRODUCT((A2:A10="一班")*(C2:C10)) 条件求和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数组公式可一次完成多项运算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考纲三·4 · 数组公式与高级函数综合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169 / 292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28 课时 / 共 44 课时 · 第 7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考纲三·3 · 数据排序与筛选（含高级筛选）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电子表格操作题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数据排序与筛选（含高级筛选）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掌握单关键字与多关键字排序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掌握自动筛选与自定义筛选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掌握高级筛选与条件区域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掌握按颜色排序筛选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高级筛选条件区域的"同行与、异行或"规则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筛选与排序对数据的影响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28 课时 · 数据排序与筛选（含高级筛选）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基础操作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单关键字：升序/降序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多关键字：主要关键字 + 次要关键字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自定义序列排序（如按部门、职称）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按单元格颜色/字体颜色排序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考纲三·3 · 数据排序与筛选（含高级筛选）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171 / 292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28 课时 · 数据排序与筛选（含高级筛选）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筛选与高级筛选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高频难点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自动筛选：每列下拉，可多列组合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自定义筛选：大于、小于、包含、与/或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高级筛选：先建立条件区域，条件同行表示"与"、异行表示"或"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结果可复制到其他位置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考纲三·3 · 数据排序与筛选（含高级筛选）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172 / 292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7 次课 · 占总课时 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课堂练习安排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单项选择题（与真题题型一致）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上机操作题（在 WPS 中真实完成）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108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练习分钟数（60%）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4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涉及考点：</a:t>
            </a:r>
            <a:r>
              <a:rPr sz="14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查找引用 · 错误处理 · 查找函数 · 文本函数 · 日期函数 · 高级筛选 · 排序筛选汇总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0600"/>
            <a:ext cx="10881360" cy="123444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00600"/>
            <a:ext cx="73152" cy="12344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推荐节奏：</a:t>
            </a:r>
            <a:r>
              <a:rPr sz="1500" b="0" i="0">
                <a:solidFill>
                  <a:srgbClr val="7A4A09"/>
                </a:solidFill>
                <a:latin typeface="Microsoft YaHei"/>
                <a:ea typeface="Microsoft YaHei"/>
                <a:cs typeface="Microsoft YaHei"/>
              </a:rPr>
              <a:t>教师示范 1 题 → 学生独立完成 → 同桌互评 → 教师统一讲评。操作题必须在 WPS 中亲手做一遍，做完对照参考答案自查。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7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VLOOKUP 函数第四个参数为 FALSE 表示（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近似匹配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精确匹配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降序查找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返回错误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当公式可能出现 #N/A 等错误时，希望显示空白，可使用（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IFERROR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ISERROR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IFNA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ERROR.TYPE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从字符串左侧开始提取指定个数的字符，应使用（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LEFT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RIGHT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MID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LEN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174 / 292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7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查找引用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FALSE/0 表示精确匹配；TRUE/1 表示近似匹配（要求首列升序）。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2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错误处理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IFERROR(表达式,错误时返回值) 可统一处理各类错误值。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3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文本函数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LEFT 从左提取，RIGHT 从右提取，MID 从中间提取，LEN 返回字符长度。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175 / 292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7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把多个文本连接为一个文本，不能使用（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CONCATENATE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&amp; 运算符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TEXTJOIN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SUM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5.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返回当前系统日期的函数是（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NOW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DATE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YEAR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6.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计算两个日期之间相差的整年数，宜使用（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YEAR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DATEDIF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DAYS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176 / 292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7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4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正确答案：D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文本函数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CONCATENATE、&amp; 和 TEXTJOIN 均可连接文本，SUM 用于数值求和。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5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日期函数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TODAY 返回当前日期，NOW 返回当前日期和时间。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6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日期函数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DATEDIF(起始日期,结束日期,"Y") 返回相差的整年数，常用于计算工龄。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177 / 292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7 次课 · 第 7–7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7.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使用高级筛选时，条件区域应（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与数据区域同一行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单独设置在工作表空白区域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写在数据区域内部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写在页眉中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178 / 292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7 次课 · 第 7–7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7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高级筛选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高级筛选需在空白区域单独设置条件区域，条件区域至少包含字段名与条件值。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179 / 292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7 次课 · 查找函数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根据学号从"信息表"工作表中查找对应的姓名与班级。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写出 VLOOKUP 公式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说明区域为何要绝对引用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说明精确匹配参数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姓名：=VLOOKUP(A2,信息表!$A:$C,2,FALSE)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班级：=VLOOKUP(A2,信息表!$A:$C,3,FALSE)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区域使用绝对引用，便于下拉填充时保持不变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180 / 292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7 次课 · 文本函数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将"张三-20230101"拆分为姓名与学号，并提取学号中的年份。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写出提取姓名的公式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写出提取学号的公式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写出提取年份的公式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姓名：=LEFT(A2,FIND("-",A2)-1)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学号：=MID(A2,FIND("-",A2)+1,8)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年份：=LEFT(B2,4)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181 / 292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7 次课 · 日期函数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根据"入职日期"列计算每位员工的工龄（整年数）。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写出工龄计算公式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 DATEDIF 各参数含义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=DATEDIF(入职日期单元格,TODAY(),"Y")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参数依次为起始日期、结束日期、返回类型"Y"表示整年数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下拉填充至所有行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182 / 292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7 次课 · 排序筛选汇总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按"班级"排序后分类汇总各班级人数与平均分。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说明排序关键字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说明分类汇总设置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说明汇总结果查看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数据→排序→主要关键字选"班级"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数据→分类汇总→分类字段"班级"、汇总方式"平均值"、选定汇总项"成绩"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在左侧分级显示中查看各班级汇总结果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183 / 292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914400"/>
            <a:ext cx="5943600" cy="5943600"/>
          </a:xfrm>
          <a:prstGeom prst="ellipse">
            <a:avLst/>
          </a:prstGeom>
          <a:solidFill>
            <a:srgbClr val="1D4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第 8 次课 / 共 11 次课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2412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电子表格（三）：汇总 · 图表 · 透视 · 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82296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BCD4EC"/>
                </a:solidFill>
                <a:latin typeface="Microsoft YaHei"/>
                <a:ea typeface="Microsoft YaHei"/>
                <a:cs typeface="Microsoft YaHei"/>
              </a:rPr>
              <a:t>分类汇总与数据有效性 · 图表创建与修饰 · 数据透视表与透视图 · 模拟分析与安全输出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2004181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20041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课时 · 180 分钟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5157" y="3154680"/>
            <a:ext cx="1628912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5157" y="3246120"/>
            <a:ext cx="16289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29–32 课时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12085" y="3154680"/>
            <a:ext cx="2845064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2085" y="3246120"/>
            <a:ext cx="284506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电子表格操作题 · 表格 30 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94760"/>
            <a:ext cx="6583680" cy="384048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794760"/>
            <a:ext cx="2633472" cy="384048"/>
          </a:xfrm>
          <a:prstGeom prst="rect">
            <a:avLst/>
          </a:prstGeom>
          <a:solidFill>
            <a:srgbClr val="3A5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3794760"/>
            <a:ext cx="3950208" cy="384048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77056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讲授 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877056"/>
            <a:ext cx="39502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课堂练习 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159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提分重点：</a:t>
            </a:r>
            <a:r>
              <a:rPr sz="15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分类汇总、图表与数据透视表是表格题收尾得分点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36592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掌握分类汇总、合并计算与数据有效性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按题设创建并修饰图表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掌握数据透视表字段布局与数据透视图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掌握模拟分析、多表联动与表格安全打印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29 课时 / 共 44 课时 · 第 8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考纲三·3 · 分类汇总、合并计算与数据有效性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电子表格操作题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分类汇总、合并计算与数据有效性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掌握分类汇总的使用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掌握合并计算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掌握数据有效性与下拉列表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掌握分列与删除重复项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分类汇总前为何要先排序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合并计算两种方式的区别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29 课时 · 分类汇总、合并计算与数据有效性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分类汇总与合并计算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必考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分类汇总前必须先按分类字段排序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数据→分类汇总：分类字段 + 汇总方式 + 汇总项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可设置替换当前分类汇总、每组数据分页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合并计算：按位置或按分类，引用多个区域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考纲三·3 · 分类汇总、合并计算与数据有效性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186 / 292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29 课时 · 分类汇总、合并计算与数据有效性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数据有效性与数据清洗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实用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数据有效性：限制整数/小数/日期/文本长度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序列：制作下拉列表，来源用逗号分隔或引用区域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输入信息、出错警告、圈释无效数据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分列：按分隔符或固定宽度拆分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删除重复项保留唯一值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考纲三·3 · 分类汇总、合并计算与数据有效性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187 / 292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30 课时 / 共 44 课时 · 第 8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考纲三·5 · 图表的创建、编辑与修饰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电子表格操作题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图表创建、编辑与修饰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掌握常用图表的创建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掌握图表元素与格式设置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掌握迷你图与动态图表入门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不同图表类型的适用场景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主次坐标轴与组合图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30 课时 · 图表创建、编辑与修饰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图表类型与创建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操作题常考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比较大小用柱形/条形图，看趋势用折线图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看占比用饼图/圆环图，看相关性用散点图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选择数据→插入图表，或先选数据再插入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切换行列可改变分类与系列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考纲三·5 · 图表的创建、编辑与修饰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189 / 292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30 课时 · 图表创建、编辑与修饰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图表编辑与修饰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细节得分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添加图表标题、坐标轴标题、图例、数据标签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设置坐标轴刻度、网格线、数据表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应用图表样式与更改颜色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组合图：为不同系列设置主/次坐标轴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迷你图：单元格内嵌小图表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考纲三·5 · 图表的创建、编辑与修饰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190 / 292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31 课时 / 共 44 课时 · 第 8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考纲三·6 · 数据透视表与数据透视图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电子表格操作题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数据透视表与数据透视图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掌握数据透视表的创建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掌握字段布局（行、列、值、筛选）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掌握值字段设置与计算方式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掌握数据透视图与切片器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行标签与列标签的区分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值显示方式的选择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31 课时 · 数据透视表与数据透视图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创建数据透视表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表格压轴考点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选择数据→插入→数据透视表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把字段拖到行、列、值、筛选四个区域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行标签分类、列标签分栏、值区汇总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数据源变化后可刷新透视表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考纲三·6 · 数据透视表与数据透视图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192 / 292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31 课时 · 数据透视表与数据透视图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透视表进阶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加分项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值字段设置：求和/计数/平均/最大/最小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值显示方式：占同行/同列/总计的百分比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数据透视图：与透视表联动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切片器：可视化筛选按钮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考纲三·6 · 数据透视表与数据透视图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193 / 292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32 课时 / 共 44 课时 · 第 8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考纲三·3/7/8 · 模拟分析、多表联动、安全性与打印输出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电子表格操作题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中频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模拟分析、多表联动、安全性与打印输出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掌握单变量与双变量模拟运算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掌握方案管理器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掌握多工作表联动与三维引用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掌握选择性粘贴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掌握工作表与工作簿保护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单变量与双变量模拟运算的区别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三维引用的写法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保护工作表与保护工作簿的区别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32 课时 · 模拟分析、多表联动、安全性与打印输出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模拟分析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大纲新增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模拟运算表：查看公式结果随变量变化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单变量模拟运算表：一个输入变量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双变量模拟运算表：行、列两个变量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单变量求解：已知结果反推变量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考纲三·3/7/8 · 模拟分析、多表联动、安全性与打印输出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195 / 292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32 课时 · 模拟分析、多表联动、安全性与打印输出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多表联动与选择性粘贴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综合应用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三维引用：=SUM(Sheet1:Sheet3!B2) 汇总多表同位置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多表数据同步与联动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选择性粘贴：数值、格式、列宽、运算、转置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粘贴链接保持同步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考纲三·3/7/8 · 模拟分析、多表联动、安全性与打印输出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196 / 292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32 课时 · 模拟分析、多表联动、安全性与打印输出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安全与保护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易忽略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保护工作表：防止单元格被修改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保护工作簿：防止工作表增删移动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先取消"锁定"再保护，可实现部分单元格可编辑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设置打开密码与修改密码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考纲三·3/7/8 · 模拟分析、多表联动、安全性与打印输出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197 / 292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WPS 表格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32 课时 · 模拟分析、多表联动、安全性与打印输出</a:t>
            </a:r>
            <a:r>
              <a:rPr sz="12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　｜　电子表格操作题 · 30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打印输出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常考细节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页面设置：纸张、方向、缩放、页边距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打印标题：设置顶端标题行重复打印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打印区域：设定只打印指定区域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分页预览调整分页符，避免列被截断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考纲三·3/7/8 · 模拟分析、多表联动、安全性与打印输出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198 / 292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次课 · 占总课时 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课堂练习安排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单项选择题（与真题题型一致）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上机操作题（在 WPS 中真实完成）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108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练习分钟数（60%）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4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涉及考点：</a:t>
            </a:r>
            <a:r>
              <a:rPr sz="14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分类汇总 · 数据有效性 · 数据处理 · 图表类型 · 数据透视表 · 模拟分析 · 数据安全 · 打印输出 · 图表 · 打印设置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0600"/>
            <a:ext cx="10881360" cy="123444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00600"/>
            <a:ext cx="73152" cy="12344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推荐节奏：</a:t>
            </a:r>
            <a:r>
              <a:rPr sz="1500" b="0" i="0">
                <a:solidFill>
                  <a:srgbClr val="7A4A09"/>
                </a:solidFill>
                <a:latin typeface="Microsoft YaHei"/>
                <a:ea typeface="Microsoft YaHei"/>
                <a:cs typeface="Microsoft YaHei"/>
              </a:rPr>
              <a:t>教师示范 1 题 → 学生独立完成 → 同桌互评 → 教师统一讲评。操作题必须在 WPS 中亲手做一遍，做完对照参考答案自查。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进行分类汇总之前，必须先（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排序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筛选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冻结窗格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合并单元格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数据有效性不能实现的功能是（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限制输入整数范围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设置下拉序列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限制文本长度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自动求和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快速删除工作表中的重复记录，应使用（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数据→删除重复项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开始→清除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审阅→修订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插入→表格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200 / 292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分类汇总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分类汇总按分类字段汇总，必须先按该字段排序，使同类数据相邻。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2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正确答案：D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数据有效性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数据有效性用于限制输入内容与范围，自动求和需使用公式或函数。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3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数据处理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"数据→删除重复项"可按指定列快速去除重复记录。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201 / 292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显示数据随时间变化的趋势，最合适的图表类型是（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饼图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折线图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散点图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雷达图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5.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表现各部分占总体的比例，最合适的图表类型是（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饼图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折线图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条形图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面积图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6.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数据透视表的主要作用是（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美化表格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快速汇总与多维分析数据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保护数据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输入数据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202 / 292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4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图表类型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折线图适合表现趋势，饼图适合表现占比，柱形图适合比较大小。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5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图表类型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饼图用于表现各部分占整体的比例关系。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6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数据透视表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数据透视表可快速对大量数据按行、列、值进行分组汇总与多维分析。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203 / 292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次课 · 第 7–9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7.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源数据修改后，数据透视表应（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自动更新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右键→刷新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重新创建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无法更新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8.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已知公式结果，反推使结果成立的输入值，应使用（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单变量求解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模拟运算表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方案管理器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数据透视表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9.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分析"利率与年限"两个变量同时变化对月供的影响，应使用（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单变量求解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双变量模拟运算表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分类汇总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条件格式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204 / 292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次课 · 第 7–9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7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数据透视表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数据透视表不会自动更新，需右键"刷新"或使用"全部刷新"。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8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模拟分析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单变量求解用于已知目标结果反推输入值；模拟运算表用于分析变量变化对结果的影响。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9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模拟分析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双变量模拟运算表可同时分析两个变量变化对公式结果的影响。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205 / 292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次课 · 第 10–11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限制他人修改工作表内容，应使用（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保护工作表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隐藏工作表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冻结窗格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设置打印区域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让表格每一页都打印标题行，应设置（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打印区域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打印标题→顶端标题行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页边距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打印缩放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206 / 292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次课 · 第 10–11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10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数据安全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审阅→保护工作表可限制编辑；保护工作簿可限制结构变更。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打印输出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页面布局→打印标题→设置"顶端标题行"，可让标题行在每页重复打印。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207 / 292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次课 · 图表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根据各月销售额数据创建带数据标签的折线图，并添加图表标题。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说明图表类型选择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说明数据标签添加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说明标题设置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选中数据区域→插入→折线图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点击图表→图表元素→勾选"数据标签"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添加图表标题并设置坐标轴与网格线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208 / 292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次课 · 数据透视表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统计各部门各季度的销售额合计。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说明透视表创建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说明字段布局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说明筛选方式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选中数据→插入→数据透视表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行区域放"部门"，列区域放"季度"，值区域放"销售额（求和）"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可插入切片器按年份快速筛选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209 / 292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8 次课 · 打印设置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设置打印区域、每页重复标题行、并将内容缩放为一页宽。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说明打印区域设置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说明打印标题设置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说明缩放设置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选中数据区域→页面布局→打印区域→设置打印区域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页面布局→打印标题→顶端标题行选择标题行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页面布局→缩放→调整为 1 页宽，预览后打印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210 / 292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914400"/>
            <a:ext cx="5943600" cy="5943600"/>
          </a:xfrm>
          <a:prstGeom prst="ellipse">
            <a:avLst/>
          </a:prstGeom>
          <a:solidFill>
            <a:srgbClr val="1D4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第 9 次课 / 共 11 次课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2412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演示文稿（一）：基本操作 · 母版 · 对象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82296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BCD4EC"/>
                </a:solidFill>
                <a:latin typeface="Microsoft YaHei"/>
                <a:ea typeface="Microsoft YaHei"/>
                <a:cs typeface="Microsoft YaHei"/>
              </a:rPr>
              <a:t>演示文稿基本操作与视图 · 主题背景与母版 · 文本图形与智能图形 · 图片图表音视频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2004181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20041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课时 · 180 分钟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5157" y="3154680"/>
            <a:ext cx="1628912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5157" y="3246120"/>
            <a:ext cx="16289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33–36 课时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12085" y="3154680"/>
            <a:ext cx="2845064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2085" y="3246120"/>
            <a:ext cx="284506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演示文稿操作题 · 演示 20 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94760"/>
            <a:ext cx="6583680" cy="384048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794760"/>
            <a:ext cx="2633472" cy="384048"/>
          </a:xfrm>
          <a:prstGeom prst="rect">
            <a:avLst/>
          </a:prstGeom>
          <a:solidFill>
            <a:srgbClr val="3A5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3794760"/>
            <a:ext cx="3950208" cy="384048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77056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讲授 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877056"/>
            <a:ext cx="39502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课堂练习 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159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提分重点：</a:t>
            </a:r>
            <a:r>
              <a:rPr sz="15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母版与主题决定全篇风格，是演示题效率关键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36592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掌握幻灯片组织管理、视图与放映基本操作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掌握主题、背景与母版制作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掌握文本、艺术字、图形与智能图形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掌握图片、图表、音频与视频对象的编辑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33 课时 / 共 44 课时 · 第 9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考纲四·1 · 演示文稿基本操作、幻灯片组织管理与视图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演示文稿操作题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中频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演示文稿基本操作、幻灯片管理与视图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掌握演示文稿的新建与保存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掌握幻灯片的增删、复制、移动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掌握版式应用与视图模式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版式与母版的区别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幻灯片浏览视图的用途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33 课时 · 演示文稿基本操作、幻灯片管理与视图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演示文稿基础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模块五 · 第 37 课时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新建演示文稿，保存为 .dps 或 .pptx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新建幻灯片并选择版式（标题/标题和内容/两栏等）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复制、移动、删除、隐藏幻灯片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用"节"对幻灯片分组管理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考纲四·1 · 演示文稿基本操作、幻灯片组织管理与视图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213 / 292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33 课时 · 演示文稿基本操作、幻灯片管理与视图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视图与页面设置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操作基础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普通视图：编辑单张；大纲视图：编辑文字结构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幻灯片浏览视图：全局调整顺序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备注页视图：添加演讲者备注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页面设置：幻灯片大小（16:9/4:3）、方向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考纲四·1 · 演示文稿基本操作、幻灯片组织管理与视图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214 / 292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34 课时 / 共 44 课时 · 第 9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考纲四·2 · 主题应用、背景设置与母版制作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演示文稿操作题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主题应用、背景设置与母版制作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掌握主题的应用与自定义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掌握背景设置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掌握幻灯片母版与版式母版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掌握页眉页脚与编号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母版与普通视图编辑的区别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背景"应用于全部/所选"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34 课时 · 主题应用、背景设置与母版制作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主题与背景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整体风格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应用主题：设计→主题，一键统一配色字体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变体：主题的配色方案变化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背景：纯色、渐变、图片、纹理填充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"应用到全部"与"应用到所选幻灯片"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考纲四·2 · 主题应用、背景设置与母版制作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216 / 292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34 课时 · 主题应用、背景设置与母版制作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母版制作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视图→幻灯片母版，进入母版编辑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母版控制所有幻灯片的统一元素（Logo、字体、页码）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版式母版控制不同版式的占位符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母版修改后，应用该母版的幻灯片同步变化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考纲四·2 · 主题应用、背景设置与母版制作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217 / 292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35 课时 / 共 44 课时 · 第 9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考纲四·3 · 文本、艺术字、图形与智能图形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演示文稿操作题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文本、艺术字、图形与智能图形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掌握文本框与文本格式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掌握艺术字与形状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掌握SmartArt智能图形的使用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掌握对象的排列与对齐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形状与图片的区别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SmartArt 类型的适用场景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35 课时 · 文本、艺术字、图形与智能图形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文本与艺术字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内容基础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文本框插入与文本格式设置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项目符号与编号、行距、分栏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艺术字：快速美化标题，支持文本转换（弯曲/路径）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文本框的填充、轮廓与阴影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考纲四·3 · 文本、艺术字、图形与智能图形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219 / 292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35 课时 · 文本、艺术字、图形与智能图形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形状与智能图形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可视化利器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形状：绘制、调整、组合、编辑顶点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SmartArt：列表、流程、循环、层次结构、关系、矩阵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把文字一键转换为 SmartArt 图示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对齐分布、叠放次序、组合对象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考纲四·3 · 文本、艺术字、图形与智能图形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220 / 292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36 课时 / 共 44 课时 · 第 9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考纲四·3 · 图片、图表、音频与视频对象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演示文稿操作题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图片、图表、音频与视频对象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掌握图片的插入与编辑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掌握图表的插入与编辑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掌握音频与视频的插入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掌握表格与对象的设置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音频"跨幻灯片播放"设置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视频播放的触发方式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36 课时 · 图片、图表、音频与视频对象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图片与图表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常用对象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插入图片、裁剪为形状、设置样式与艺术效果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删除背景、设置透明色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插入图表并编辑数据源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更改图表类型、应用图表样式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考纲四·3 · 图片、图表、音频与视频对象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222 / 292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36 课时 · 图片、图表、音频与视频对象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音视频与表格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多媒体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插入音频：本机音频/录制音频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设置"跨幻灯片播放""循环播放""播放时隐藏"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插入视频：链接或嵌入，设置播放方式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插入表格并应用表格样式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考纲四·3 · 图片、图表、音频与视频对象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223 / 292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9 次课 · 占总课时 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课堂练习安排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单项选择题（与真题题型一致）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上机操作题（在 WPS 中真实完成）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108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练习分钟数（60%）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4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涉及考点：</a:t>
            </a:r>
            <a:r>
              <a:rPr sz="14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母版 · 主题背景 · 版式 · 智能图形 · 对象插入 · 音频设置 · 背景 · 对象排列 · 母版应用 · 图文对象 · 幻灯片管理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0600"/>
            <a:ext cx="10881360" cy="123444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00600"/>
            <a:ext cx="73152" cy="12344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推荐节奏：</a:t>
            </a:r>
            <a:r>
              <a:rPr sz="1500" b="0" i="0">
                <a:solidFill>
                  <a:srgbClr val="7A4A09"/>
                </a:solidFill>
                <a:latin typeface="Microsoft YaHei"/>
                <a:ea typeface="Microsoft YaHei"/>
                <a:cs typeface="Microsoft YaHei"/>
              </a:rPr>
              <a:t>教师示范 1 题 → 学生独立完成 → 同桌互评 → 教师统一讲评。操作题必须在 WPS 中亲手做一遍，做完对照参考答案自查。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9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幻灯片母版的主要作用是（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统一各页版式与格式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加密演示文稿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压缩文件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插入动画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为演示文稿更换整体配色与字体方案，应使用（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切换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动画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"标题幻灯片"版式通常用于（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内容页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封面页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目录页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结束页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225 / 292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9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母版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通过母版可统一设置标题、正文格式及 Logo、页码等公共元素。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2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主题背景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"设计"选项卡提供主题、变体、背景与幻灯片大小设置。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3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版式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标题幻灯片版式用于封面，包含标题与副标题占位符。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226 / 292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9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快速创建流程图、关系图等结构化图形，应使用（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SmartArt（智能图形）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文本框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艺术字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表格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5.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在幻灯片中插入表格、图表、音频，应使用的选项卡是（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切换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6.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让音频在整场放映中持续播放，应设置（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单击时播放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跨幻灯片播放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循环播放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隐藏图标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227 / 292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9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4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智能图形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智能图形（SmartArt）可快速生成列表、流程、循环、层次结构等图示。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5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对象插入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"插入"选项卡可插入表格、图表、图片、音频、视频、超链接等对象。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6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音频设置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音频工具→播放→"跨幻灯片播放"可使音频在整个放映过程中连续播放。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228 / 292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9 次课 · 第 7–9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7.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把一张图片设置为所有幻灯片背景，应（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插入图片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设计→设置背景格式→图片填充→全部应用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设置母版标题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插入文本框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8.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调整多个对象的前后叠放次序，应使用（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格式→排列（上移/下移一层）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开始→对齐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插入→形状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视图→网格线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9.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在放映时不显示某张幻灯片，应（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删除该幻灯片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右键→隐藏幻灯片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移到最后一页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设置白色背景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229 / 292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9 次课 · 第 7–9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7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设计→设置背景格式→图片或纹理填充→插入图片→全部应用。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8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对象排列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绘图工具→格式→排列可设置上移一层、下移一层、置于顶层/底层。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9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幻灯片管理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"隐藏幻灯片"使其在放映时跳过，但仍保留在文件中。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230 / 292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9 次课 · 母版应用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通过幻灯片母版统一添加单位 Logo 与页码，并将标题字体设为微软雅黑加粗。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说明进入母版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说明公共元素添加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说明标题样式设置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视图→幻灯片母版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在母版页插入 Logo 图片，并在页脚占位符中插入幻灯片编号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选中标题占位符→设置字体为微软雅黑、加粗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关闭母版视图，所有幻灯片统一生效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231 / 292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9 次课 · 图文对象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制作"目录页"：用智能图形展示 4 个章节，并插入图片作为页面背景。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说明智能图形使用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说明内容编辑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说明背景设置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新建幻灯片→插入→SmartArt→选择列表样式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输入 4 个章节标题并调整配色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设计→设置背景格式→图片填充→插入背景图片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232 / 292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914400"/>
            <a:ext cx="5943600" cy="5943600"/>
          </a:xfrm>
          <a:prstGeom prst="ellipse">
            <a:avLst/>
          </a:prstGeom>
          <a:solidFill>
            <a:srgbClr val="1D4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第 10 次课 / 共 11 次课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2412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演示文稿（二）：动画 · 放映 · 综合案例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82296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BCD4EC"/>
                </a:solidFill>
                <a:latin typeface="Microsoft YaHei"/>
                <a:ea typeface="Microsoft YaHei"/>
                <a:cs typeface="Microsoft YaHei"/>
              </a:rPr>
              <a:t>对象动画与幻灯片切换 · 超链接与放映设置 · 打包输出 · 演示综合案例实训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2004181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20041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课时 · 180 分钟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5157" y="3154680"/>
            <a:ext cx="1628912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5157" y="3246120"/>
            <a:ext cx="16289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37–40 课时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12085" y="3154680"/>
            <a:ext cx="2845064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2085" y="3246120"/>
            <a:ext cx="284506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演示文稿操作题 · 演示 20 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94760"/>
            <a:ext cx="6583680" cy="384048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794760"/>
            <a:ext cx="2633472" cy="384048"/>
          </a:xfrm>
          <a:prstGeom prst="rect">
            <a:avLst/>
          </a:prstGeom>
          <a:solidFill>
            <a:srgbClr val="3A5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3794760"/>
            <a:ext cx="3950208" cy="384048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77056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讲授 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877056"/>
            <a:ext cx="39502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课堂练习 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159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提分重点：</a:t>
            </a:r>
            <a:r>
              <a:rPr sz="15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动画与切换是演示题主要失分点，须逐条核对题设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36592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按题设设置对象动画与幻灯片切换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掌握超链接、动作按钮与放映设置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掌握打包输出与图文素材综合应用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能独立完成一套 20 分演示大题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37 课时 / 共 44 课时 · 第 10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考纲四·4 · 对象动画与幻灯片切换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演示文稿操作题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对象动画与幻灯片切换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掌握进入、强调、退出、路径四类动画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掌握动画窗格与动画计时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掌握动画触发方式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掌握幻灯片切换效果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四类动画的区别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"与上一动画同时"与"上一动画之后"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37 课时 · 对象动画与幻灯片切换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对象动画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必考重点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四类动画：进入、强调、退出、动作路径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动画窗格：调整顺序、设置开始方式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开始方式：单击时 / 与上一动画同时 / 上一动画之后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持续时间与延迟，可添加多个动画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考纲四·4 · 对象动画与幻灯片切换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235 / 292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37 课时 · 对象动画与幻灯片切换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幻灯片切换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整体节奏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切换效果：淡出、推进、擦除、百叶窗等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设置持续时间与切换声音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换片方式：单击鼠标时 / 设置自动换片时间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"应用到全部"统一切换效果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考纲四·4 · 对象动画与幻灯片切换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236 / 292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38 课时 / 共 44 课时 · 第 10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考纲四·4/5 · 超链接、交互设置与放映设置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演示文稿操作题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超链接、交互设置与放映设置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掌握超链接与动作按钮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掌握交互设置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掌握幻灯片放映方式与自定义放映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掌握排练计时与录制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超链接与动作按钮的区别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不同放映方式的适用场景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38 课时 · 超链接、交互设置与放映设置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超链接与动作按钮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交互设置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超链接：可链接到本文档幻灯片、其他文件、网页、邮件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动作按钮：上一张/下一张/首页/结束/自定义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设置鼠标单击或悬停触发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制作目录页跳转与返回按钮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考纲四·4/5 · 超链接、交互设置与放映设置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238 / 292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38 课时 · 超链接、交互设置与放映设置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放映设置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必考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放映方式：演讲者放映 / 观众自行浏览 / 展台浏览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设置放映范围：全部、指定页、自定义放映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排练计时、录制幻灯片演示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隐藏幻灯片、设置循环放映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考纲四·4/5 · 超链接、交互设置与放映设置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239 / 292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39 课时 / 共 44 课时 · 第 10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考纲四·5/6 · 打包输出与图文素材综合应用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演示文稿操作题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中频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演示文稿打包输出与图文素材综合应用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掌握演示文稿的输出格式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掌握打包与发布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掌握打印与讲义设置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掌握图文素材的分析与信息引用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导出 PDF 与导出图片的区别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讲义打印的版式设置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39 课时 · 演示文稿打包输出与图文素材综合应用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输出与打包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收尾技能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另存为 PDF / 图片（PNG/JPG）/ 视频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打包成文件夹：包含字体与媒体，异地可播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输出为讲义便于分发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设置幻灯片大小与分辨率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考纲四·5/6 · 打包输出与图文素材综合应用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241 / 292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39 课时 · 演示文稿打包输出与图文素材综合应用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中频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打印与素材综合应用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综合能力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打印：讲义（每页 1/2/3/4/6/9 张）、备注页、大纲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设置页眉页脚、日期与页码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分析图文素材，提取信息制作演示文稿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按需求引用信息到演示文稿中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考纲四·5/6 · 打包输出与图文素材综合应用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242 / 292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40 课时 / 共 44 课时 · 第 10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考纲四 · 演示文稿综合案例实训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演示文稿操作题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演示文稿综合案例实训（20 分大题实战）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能按题目要求独立完成一份完整演示文稿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掌握母版、版式、主题、对象、动画、切换、放映的联动设置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熟悉演示操作题评分点，规避常见失分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母版与版式的层级关系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动画顺序与触发方式的设置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40 课时 · 演示文稿综合案例实训（20 分大题实战）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演示综合案例：任务拆解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模块四 · 第 8 课时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通读题目，列出全部小题并标出分值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先做全局设置（主题/母版/页面尺寸），再做单页设置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每完成一小题立即保存，避免整题丢失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 · 演示文稿综合案例实训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244 / 292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40 课时 · 演示文稿综合案例实训（20 分大题实战）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母版与版式的统一设置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高分必做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主题决定配色与字体，母版决定占位符与背景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在母版中统一设置标题字体、页脚与页码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版式用于单页布局，尽量套用而非手动拖拽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 · 演示文稿综合案例实训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245 / 292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40 课时 · 演示文稿综合案例实训（20 分大题实战）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对象、动画与切换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易失分点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图片：裁剪、压缩、环绕方式、艺术效果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智能图形(SmartArt)：插入后编辑文本与样式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动画：进入/强调/退出，按题设顺序与触发方式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切换：选择指定效果，可设置自动换片时间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 · 演示文稿综合案例实训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246 / 292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WPS 演示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40 课时 · 演示文稿综合案例实训（20 分大题实战）</a:t>
            </a:r>
            <a:r>
              <a:rPr sz="12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放映、打包与输出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收尾得分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放映设置：排练计时、自定义放映、循环放映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超链接与动作按钮实现页面跳转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打包为 CD 数据包 / 输出为 PDF 或视频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考纲四 · 演示文稿综合案例实训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247 / 292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10 次课 · 占总课时 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课堂练习安排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单项选择题（与真题题型一致）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上机操作题（在 WPS 中真实完成）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108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练习分钟数（60%）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4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涉及考点：</a:t>
            </a:r>
            <a:r>
              <a:rPr sz="14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动画 · 切换 · 超链接 · 放映设置 · 放映方式 · 打包输出 · 幻灯片编号 · 动画设置 · 放映与输出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0600"/>
            <a:ext cx="10881360" cy="123444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00600"/>
            <a:ext cx="73152" cy="12344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推荐节奏：</a:t>
            </a:r>
            <a:r>
              <a:rPr sz="1500" b="0" i="0">
                <a:solidFill>
                  <a:srgbClr val="7A4A09"/>
                </a:solidFill>
                <a:latin typeface="Microsoft YaHei"/>
                <a:ea typeface="Microsoft YaHei"/>
                <a:cs typeface="Microsoft YaHei"/>
              </a:rPr>
              <a:t>教师示范 1 题 → 学生独立完成 → 同桌互评 → 教师统一讲评。操作题必须在 WPS 中亲手做一遍，做完对照参考答案自查。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10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动画的"开始方式"不包括（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单击时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与上一动画同时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上一动画之后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自动循环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设置幻灯片之间的切换效果，应使用（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动画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切换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演示文稿中的超链接不能链接到（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本文档中的位置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网页地址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电子邮件地址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其他软件的安装包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249 / 292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10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正确答案：D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动画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开始方式有单击时、与上一动画同时、上一动画之后三种。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2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切换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"切换"选项卡设置幻灯片之间的过渡效果与换片方式。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3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正确答案：D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超链接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超链接可指向本文档位置、现有文件或网页、电子邮件地址、新建文档等。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250 / 292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10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记录每张幻灯片的放映时间，应使用（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排练计时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录制旁白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设置放映方式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自定义放映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5.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"演讲者放映"方式的特点是（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全屏放映，演讲者可控制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在窗口中放映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观众自行控制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循环播放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6.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将演示文稿打包的主要目的是（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压缩图片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携带字体与媒体文件，便于异地播放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加密文档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转换为 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251 / 292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10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4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放映设置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排练计时可记录每张幻灯片的停留时间，用于自动播放。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5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放映方式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演讲者放映为全屏方式，演讲者可完全控制放映进程。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6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打包输出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打包可将演示文稿连同字体、媒体一并输出，避免在其他电脑上播放异常。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252 / 292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10 次课 · 第 7–7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7.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为幻灯片添加编号，应使用（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插入→幻灯片编号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设计→主题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切换→效果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动画→编号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253 / 292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10 次课 · 第 7–7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7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幻灯片编号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插入→幻灯片编号可统一为幻灯片添加页码。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254 / 292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10 次课 · 动画设置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为一张幻灯片中的 4 个要点设置"飞入"进入动画，并逐个单击出现。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说明动画类型选择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说明开始方式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说明批量设置方法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选中第 1 个要点→动画→进入→飞入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在"开始"下拉中选择"单击时"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用"动画刷"或依次为其余要点应用相同动画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可在动画窗格中检查顺序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255 / 292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10 次课 · 放映与输出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设置放映方式为"观众自行浏览"，进行排练计时，并打包输出到指定文件夹。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说明放映方式设置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说明排练计时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说明打包输出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幻灯片放映→设置放映方式→观众自行浏览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幻灯片放映→排练计时→完成后保存计时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文件→导出/打包→选择目标文件夹输出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256 / 292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914400"/>
            <a:ext cx="5943600" cy="5943600"/>
          </a:xfrm>
          <a:prstGeom prst="ellipse">
            <a:avLst/>
          </a:prstGeom>
          <a:solidFill>
            <a:srgbClr val="1D4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第 11 次课 / 共 11 次课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2412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全真模拟与考前冲刺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82296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BCD4EC"/>
                </a:solidFill>
                <a:latin typeface="Microsoft YaHei"/>
                <a:ea typeface="Microsoft YaHei"/>
                <a:cs typeface="Microsoft YaHei"/>
              </a:rPr>
              <a:t>单选突破 · 文字操作题实战 · 表格操作题实战 · 演示操作题实战与全真模拟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2004181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20041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课时 · 180 分钟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5157" y="3154680"/>
            <a:ext cx="1628912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5157" y="3246120"/>
            <a:ext cx="16289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41–44 课时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12085" y="3154680"/>
            <a:ext cx="2094524" cy="457200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2085" y="3246120"/>
            <a:ext cx="20945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综合实战 · 综合提分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94760"/>
            <a:ext cx="6583680" cy="384048"/>
          </a:xfrm>
          <a:prstGeom prst="rect">
            <a:avLst/>
          </a:prstGeom>
          <a:solidFill>
            <a:srgbClr val="1B3A5A"/>
          </a:solidFill>
          <a:ln w="12700">
            <a:solidFill>
              <a:srgbClr val="2A4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794760"/>
            <a:ext cx="2633472" cy="384048"/>
          </a:xfrm>
          <a:prstGeom prst="rect">
            <a:avLst/>
          </a:prstGeom>
          <a:solidFill>
            <a:srgbClr val="3A5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3794760"/>
            <a:ext cx="3950208" cy="384048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77056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讲授 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877056"/>
            <a:ext cx="39502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课堂练习 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159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提分重点：</a:t>
            </a:r>
            <a:r>
              <a:rPr sz="15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限时全真模拟，训练时间分配，稳定达到 60 分合格线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36592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掌握单选高频考点与答题技巧，单选拿 12 分以上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掌握文字操作题评分点与解题流程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掌握表格操作题评分点与函数应用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600" b="0" i="0">
                <a:solidFill>
                  <a:srgbClr val="DBE8F5"/>
                </a:solidFill>
                <a:latin typeface="Microsoft YaHei"/>
                <a:ea typeface="Microsoft YaHei"/>
                <a:cs typeface="Microsoft YaHei"/>
              </a:rPr>
              <a:t>掌握 120 分钟时间分配并完成一次全真模拟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41 课时 / 共 44 课时 · 第 11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冲刺 · 单项选择题专项（公共基础 + WPS 知识）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单项选择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单项选择题专项突破（公共基础 + WPS 知识）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掌握公共基础高频考点与解题方法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熟悉 WPS 相关知识型选择题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能用排除法快速作答，将单选控制在 20 分钟内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公共基础概念题的辨析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易混知识点的区分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41 课时 · 单项选择题专项突破（公共基础 + WPS 知识）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单选 20 分的得分策略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第 1 课时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单选 20 分 = 公共基础 10 分 + WPS 知识 10 分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公共基础偏概念与计算，WPS 知识偏操作常识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目标：单选拿 12 分以上，为操作题留足时间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答题顺序：先做有把握的，标记难题最后回看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单项选择题专项（公共基础 + WPS 知识）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259 / 292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41 课时 · 单项选择题专项突破（公共基础 + WPS 知识）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公共基础高频考点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必背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算法五特征、时间复杂度排序 O(1)&lt;O(log₂n)&lt;O(n)&lt;O(n²)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线性表插入 n/2、删除 (n-1)/2；二叉树第 k 层 2^(k-1)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排序分类：交换类、插入类、选择类；快排平均 O(nlog₂n)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软件工程：生命周期、白盒/黑盒测试；数据库三级模式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单项选择题专项（公共基础 + WPS 知识）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260 / 292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41 课时 · 单项选择题专项突破（公共基础 + WPS 知识）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　｜　单项选择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WPS 知识型选择题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常识 + 快捷键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文件格式：.docx / .xlsx / .pptx / .pdf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常用快捷键：Ctrl+B/I/U、Ctrl+F 查找、Ctrl+H 替换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PDF：阅读、批注、编辑、保护、转换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在线办公：文档上云、共享协作、创新应用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单项选择题专项（公共基础 + WPS 知识）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261 / 292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42 课时 / 共 44 课时 · 第 11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冲刺 · 文字文档操作题实战与评分点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文字文档操作题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文字文档操作题实战与评分点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熟悉文字文档操作题（30 分）的题型与评分点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掌握样式、目录、邮件合并等大题的解题流程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能按评分点规范作答，减少非知识性失分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样式与直接格式的冲突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分节与页码起始值的设置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42 课时 · 文字文档操作题实战与评分点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文字文档操作题得分地图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第 2 课时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30 分通常由 5～7 个小题构成，按小题给分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高频大题：字体段落格式、样式与目录、页面与分节、表格、图文混排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策略：先全局后局部，做完一题保存一次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易失分：首行缩进 2 字符、行距、分节后的页眉页脚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文字文档操作题实战与评分点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263 / 292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42 课时 · 文字文档操作题实战与评分点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高频大题解题流程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按步骤拿分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样式：先定义/修改标题样式，再应用到各级标题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目录：插入目录→设置显示级别→更新域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页面：页面设置→分栏→分节→页眉页脚与页码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表格：套用样式、重复标题行、单元格合并与边框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文字文档操作题实战与评分点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264 / 292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42 课时 · 文字文档操作题实战与评分点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　｜　文字文档操作题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邮件合并与图文混排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稳定得分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邮件合并：选主文档→选收件人→插入合并域→完成合并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图片：设置环绕方式、大小与裁剪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文本框与文档部件、符号与公式的插入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最后：核对文件保存位置与格式（.docx）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文字文档操作题实战与评分点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265 / 292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43 课时 / 共 44 课时 · 第 11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冲刺 · 电子表格操作题实战与评分点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电子表格操作题 · 30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电子表格操作题实战与评分点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熟悉电子表格操作题（30 分）的题型与评分点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掌握公式函数、排序筛选、图表、透视表的大题流程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能按评分点规范设置数据格式与引用方式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绝对引用与相对引用的选择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数据透视表的字段布局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43 课时 · 电子表格操作题实战与评分点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电子表格操作题得分地图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第 3 课时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30 分通常由 5～7 个小题构成，按小题给分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高频大题：公式与函数、排序筛选、分类汇总、图表、数据透视表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策略：先算数据再画图表，图表数据源必须正确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易失分：引用方式错误导致填充结果全错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电子表格操作题实战与评分点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267 / 292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43 课时 · 电子表格操作题实战与评分点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公式与函数实战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分值最高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SUM/AVERAGE/MAX/MIN、COUNTIF/SUMIF/AVERAGEIF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逻辑：IF 及嵌套；查找：VLOOKUP/INDEX/MATCH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文本：LEFT/RIGHT/MID/CONCAT/TEXT；日期：TODAY/YEAR/MONTH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排名用 RANK，条件计数用 COUNTIFS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电子表格操作题实战与评分点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268 / 292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43 课时 · 电子表格操作题实战与评分点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　｜　电子表格操作题 · 30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数据处理与可视化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收尾得分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排序：多关键字；筛选：自动筛选与高级筛选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分类汇总：先排序再汇总；合并计算用于多表汇总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图表：选类型→选数据源→设置标题与坐标轴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数据透视表：拖拽字段到行/列/值/筛选区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电子表格操作题实战与评分点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269 / 292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44 课时 / 共 44 课时 · 第 11 次课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41248"/>
            <a:ext cx="10881360" cy="420624"/>
          </a:xfrm>
          <a:prstGeom prst="rect">
            <a:avLst/>
          </a:prstGeom>
          <a:solidFill>
            <a:srgbClr val="EEF3F9"/>
          </a:solidFill>
          <a:ln w="12700">
            <a:solidFill>
              <a:srgbClr val="D6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841248"/>
            <a:ext cx="54864" cy="42062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14400"/>
            <a:ext cx="10570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2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冲刺 · 演示文稿操作题实战与全真模拟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题型分值：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演示文稿操作题 · 20 分</a:t>
            </a:r>
            <a:r>
              <a:rPr sz="12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｜　考频：</a:t>
            </a:r>
            <a:r>
              <a:rPr sz="12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高频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演示文稿操作题实战与全真模拟（时间分配）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64008" cy="32918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掌握演示文稿操作题的作答流程与评分点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能在 120 分钟内合理分配四个题型的答题时间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通过全真模拟检验复习效果并查漏补缺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40"/>
            <a:ext cx="5394960" cy="329184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834640"/>
            <a:ext cx="64008" cy="32918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44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重点难点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02152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跨题型的全局时间把控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400" b="1" i="0">
                <a:solidFill>
                  <a:srgbClr val="F2A33C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7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演示动画与切换的细节核对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44 课时 · 演示文稿操作题实战与全真模拟（时间分配）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演示操作题实战流程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第 4 课时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先做主题、母版、页面尺寸等全局设置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再处理文本、图片、智能图形、图表等对象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动画与切换严格按题设类型、顺序与触发设置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最后完成放映设置与打包输出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演示文稿操作题实战与全真模拟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271 / 292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44 课时 · 演示文稿操作题实战与全真模拟（时间分配）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120 分钟时间分配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通关关键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单项选择 20 分钟（20 题，平均 1 分钟/题）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文字文档操作题 30 分钟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电子表格操作题 35 分钟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演示文稿操作题 25 分钟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检查复核 10 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演示文稿操作题实战与全真模拟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272 / 292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冲刺模拟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44 课时 · 演示文稿操作题实战与全真模拟（时间分配）</a:t>
            </a:r>
            <a:r>
              <a:rPr sz="12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　｜　演示文稿操作题 · 20 分 · 高频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4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答题策略与检查清单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交卷前必看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731520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先易后难：先做熟悉的题型，难题标记后回看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先全局后局部：全局设置一次到位，避免返工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边做边存：每完成一小题按 Ctrl+S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24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交卷前：核对小题数量、文件位置与命名、格式要求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对应考纲：</a:t>
            </a:r>
            <a:r>
              <a:rPr sz="105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冲刺 · 演示文稿操作题实战与全真模拟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273 / 292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占总课时 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课堂练习安排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单项选择题（与真题题型一致）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上机操作题（在 WPS 中真实完成）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194560"/>
            <a:ext cx="3529584" cy="1371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395728"/>
            <a:ext cx="352958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108</a:t>
            </a:r>
          </a:p>
          <a:p>
            <a:pPr algn="ctr"/>
            <a:r>
              <a:rPr sz="13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练习分钟数（60%）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400" b="1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涉及考点：</a:t>
            </a:r>
            <a:r>
              <a:rPr sz="140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计算机系统 · 进制转换 · 存储容量 · 汉字编码 · 操作系统 · 栈与队列 · 算法复杂度 · 二叉树性质 · 软件测试 · 数据库 · 样式 · 页码 · 邮件合并 · 单元格引用 · 文本函数 · 分类汇总 · 数据透视表 · 母版 · 幻灯片切换 · 演示打包 · 样式与目录 · 公式与图表 · 演示综合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0600"/>
            <a:ext cx="10881360" cy="123444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00600"/>
            <a:ext cx="73152" cy="12344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推荐节奏：</a:t>
            </a:r>
            <a:r>
              <a:rPr sz="1500" b="0" i="0">
                <a:solidFill>
                  <a:srgbClr val="7A4A09"/>
                </a:solidFill>
                <a:latin typeface="Microsoft YaHei"/>
                <a:ea typeface="Microsoft YaHei"/>
                <a:cs typeface="Microsoft YaHei"/>
              </a:rPr>
              <a:t>教师示范 1 题 → 学生独立完成 → 同桌互评 → 教师统一讲评。操作题必须在 WPS 中亲手做一遍，做完对照参考答案自查。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冯·诺依曼体系结构的核心思想是（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并行计算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存储程序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分时处理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虚拟存储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二进制数 10110110 对应的十进制数是（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180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184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176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在计算机中，1 GB 等于（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1000 MB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1024 MB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1024 KB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1000 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275 / 292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第 1–3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计算机系统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冯·诺依曼体系的核心是"存储程序"，程序与数据一同以二进制存入存储器，由控制器自动逐条执行。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2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进制转换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按权展开：128+32+16+4+2=182。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3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存储容量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存储容量按 2 的幂进制：1 GB = 1024 MB，1 MB = 1024 KB，1 KB = 1024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276 / 292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4.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在计算机中，一个 GB2312 国标码汉字所占的存储空间是（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 字节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2 字节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3 字节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4 字节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5.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关于进程与程序，下列说法正确的是（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进程是静态的，程序是动态的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进程是动态的，程序是静态的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一个程序只能对应一个进程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进程不占用系统资源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6.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栈和队列的共同特点是（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都是先进先出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都是后进先出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都只允许在端点处插入和删除元素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都可以随机存取任意元素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277 / 292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第 4–6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4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汉字编码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GB2312 国标码（及机内码）一个汉字占 2 字节；一个 ASCII 西文字符占 1 字节，注意区分。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5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操作系统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程序是存放在存储介质上的静态指令集合；进程是程序的一次执行过程，是动态的并占用 CPU、内存等资源，同一程序可对应多个进程。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6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正确答案：C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栈与队列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栈与队列都是操作受限的线性表，只允许在端点（栈顶、队头/队尾）插入和删除；栈后进先出、队列先进先出，二者均不能随机存取。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278 / 292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第 7–9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7.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下列时间复杂度按从小到大排列正确的是（　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O(n)&lt;O(1)&lt;O(n²)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O(1)&lt;O(log₂n)&lt;O(n)&lt;O(n²)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O(n²)&lt;O(n)&lt;O(1)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O(log₂n)&lt;O(1)&lt;O(n)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8.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一棵深度为 5 的满二叉树共有多少个结点（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9.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完全不考虑程序内部结构、只依据功能需求设计测试用例的测试方法是（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白盒测试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黑盒测试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静态测试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单元测试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279 / 292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第 7–9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7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算法复杂度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常见复杂度从小到大：O(1) &lt; O(log₂n) &lt; O(n) &lt; O(nlog₂n) &lt; O(n²)。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8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正确答案：C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二叉树性质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满二叉树结点总数 = 2^k − 1 = 2^5 − 1 = 31。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9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软件测试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黑盒测试（功能测试）只关注输入与输出是否符合需求；白盒测试（结构测试）依据程序内部逻辑设计用例。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280 / 292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第 10–12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10.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数据库系统的三级模式结构由外模式、模式和（　）组成。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内模式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逻辑模式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物理模式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用户模式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11.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要让文档自动生成目录并能在修改后一键更新，正确做法是（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手动输入目录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基于标题样式插入目录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插入文本框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使用书签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12.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要求正文页码从 1 开始、封面不显示页码，正确做法是（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直接插入页码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在封面后分节并设置正文起始页码为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删除封面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设置不同页边距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281 / 292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第 10–12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10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数据库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三级模式为外模式、模式（概念模式）与内模式，两级映射保证数据的逻辑独立性与物理独立性。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11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样式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目录必须基于标题样式（大纲级别）生成，修改正文后可"更新目录"自动刷新。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12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页码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先分节，再在正文节页脚取消与前一节的链接，最后将页码起始值设为 1。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282 / 292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第 13–15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13.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要批量生成收件人信息各不相同的邀请函，应使用 WPS 文字的（　）功能。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查找替换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邮件合并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分栏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批注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14.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公式中需要向下填充且始终引用同一单元格，应使用（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相对引用 A1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绝对引用 $A$1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混合引用 A$1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三维引用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15.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 WPS 表格中，要截取单元格中文本左侧的前 4 个字符，可使用函数（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LEFT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RIGHT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ROUND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RANK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283 / 292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第 13–15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13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邮件合并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邮件合并 = 主文档 + 数据源，通过插入合并域批量生成内容各异的文档，是制作邀请函、通知单的标准方法。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14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单元格引用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绝对引用 $A$1 在填充时行列均不改变，适合固定引用某一单元格。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15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文本函数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LEFT(文本, n) 从左侧截取 n 个字符；RIGHT 从右侧截取，MID 从指定位置截取，ROUND 用于四舍五入，RANK 用于排名。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284 / 292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第 16–18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16.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 WPS 表格中对数据清单进行分类汇总前，必须先进行（　）操作。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排序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筛选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合并计算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冻结窗格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17.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创建数据透视表的主要作用是（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美化表格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对大量数据快速分类汇总与交叉分析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插入图表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设置数据有效性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18.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在演示文稿中统一设置所有幻灯片的标题字体与页脚，应修改（　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单张幻灯片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幻灯片母版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751576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备注页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讲义母版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285 / 292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第 16–18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16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分类汇总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分类汇总按"分类字段"分组统计，必须先按该字段排序，使同类记录连续排列，汇总结果才正确。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17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数据透视表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数据透视表通过拖拽字段到行、列、值、筛选区，快速实现分类汇总与交叉分析。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01768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01768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12978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18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母版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605272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幻灯片母版决定占位符与背景，修改后应用到所有使用该版式的幻灯片。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286 / 292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单项选择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第 19–20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单项选择（先独立作答，再看下一页解析）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1109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19.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要设置放映时每张幻灯片自动换片、每张停留 3 秒，应在（　）中设置。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幻灯片切换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幻灯片母版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32888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备注页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讲义母版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20. </a:t>
            </a:r>
            <a:r>
              <a:rPr sz="17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要把演示文稿连同其中的链接素材一起转移到另一台电脑正常播放，最可靠的做法是（　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A.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直接复制 .pptx 文件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B.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使用"打包"功能输出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142232"/>
            <a:ext cx="5166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C.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另存为 PDF 文件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D.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打印为讲义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287 / 292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第 19–20 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答案与解析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1109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19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正确答案：A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幻灯片切换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在"切换"选项卡中设置切换效果、持续时间与"设置自动换片时间"，即可控制每张幻灯片的停留时长。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92424"/>
            <a:ext cx="10881360" cy="1481328"/>
          </a:xfrm>
          <a:prstGeom prst="rect">
            <a:avLst/>
          </a:prstGeom>
          <a:solidFill>
            <a:srgbClr val="F6FBF8"/>
          </a:solidFill>
          <a:ln w="12700">
            <a:solidFill>
              <a:srgbClr val="CB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92424"/>
            <a:ext cx="73152" cy="14813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2044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第 20 题　</a:t>
            </a:r>
            <a:r>
              <a:rPr sz="1600" b="1" i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正确答案：B</a:t>
            </a:r>
            <a:r>
              <a:rPr sz="1250" b="1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　演示打包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995928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"打包"会把演示文稿及其链接的音视频、字体等素材一并收集，目标电脑缺少素材也能正常放映；另存为 PDF 会丢失动画与多媒体。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288 / 292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样式与目录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为文档设置"标题 1/标题 2"样式并自动生成二级目录，写出操作步骤。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说明样式设置方式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说明目录插入与级别设置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说明如何更新目录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选中标题→开始→样式→应用"标题 1"（各级标题分别应用对应样式）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光标定位到目录位置→引用→目录→选择显示级别 2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正文修改后→引用→更新目录→更新整个目录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289 / 292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公式与图表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在工作表中用公式计算各科平均分，并根据数据创建柱形图，写出操作步骤。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说明平均分公式与引用方式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说明图表类型选择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说明图表数据源与标题设置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在目标单元格输入 =AVERAGE(B2:D2)，向下填充求出各行平均分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选中数据区域→插入→图表→柱形图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在图表工具中设置图表标题与坐标轴标题，调整数据源范围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290 / 292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课堂练习 · 操作题</a:t>
            </a:r>
            <a:r>
              <a:rPr sz="13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     第 11 次课 · 演示综合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上机操作题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17904"/>
            <a:ext cx="731520" cy="7620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94960" cy="4480560"/>
          </a:xfrm>
          <a:prstGeom prst="rect">
            <a:avLst/>
          </a:prstGeom>
          <a:solidFill>
            <a:srgbClr val="FBFCFE"/>
          </a:solidFill>
          <a:ln w="12700">
            <a:solidFill>
              <a:srgbClr val="E3E9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64008" cy="4480560"/>
          </a:xfrm>
          <a:prstGeom prst="rect">
            <a:avLst/>
          </a:prstGeom>
          <a:solidFill>
            <a:srgbClr val="E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题目描述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0F2740"/>
                </a:solidFill>
                <a:latin typeface="Microsoft YaHei"/>
                <a:ea typeface="Microsoft YaHei"/>
                <a:cs typeface="Microsoft YaHei"/>
              </a:rPr>
              <a:t>为演示文稿统一应用一种主题、设置所有幻灯片标题为指定字体，并为第 1 张幻灯片标题添加"进入"动画，写出操作步骤。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操作要求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说明主题的应用范围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说明统一标题字体的设置位置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400" b="1" i="0">
                <a:solidFill>
                  <a:srgbClr val="E8503A"/>
                </a:solidFill>
                <a:latin typeface="Microsoft YaHei"/>
                <a:ea typeface="Microsoft YaHei"/>
                <a:cs typeface="Microsoft YaHei"/>
              </a:rPr>
              <a:t>◆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说明动画的添加与参数设置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394960" cy="4480560"/>
          </a:xfrm>
          <a:prstGeom prst="rect">
            <a:avLst/>
          </a:prstGeom>
          <a:solidFill>
            <a:srgbClr val="FFF8EC"/>
          </a:solidFill>
          <a:ln w="12700">
            <a:solidFill>
              <a:srgbClr val="F0D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64008" cy="448056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参考操作步骤（先让学生独立完成后展示）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2316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1.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设计→主题→选择一种主题，选择"应用于全部幻灯片"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2.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视图→幻灯片母版→选中标题占位符→设置字体与字号→关闭母版视图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500" b="1" i="0">
                <a:solidFill>
                  <a:srgbClr val="A06A12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1500" b="0" i="0">
                <a:solidFill>
                  <a:srgbClr val="33475F"/>
                </a:solidFill>
                <a:latin typeface="Microsoft YaHei"/>
                <a:ea typeface="Microsoft YaHei"/>
                <a:cs typeface="Microsoft YaHei"/>
              </a:rPr>
              <a:t>选中第 1 张幻灯片的标题→动画→选择"进入"类动画（如"飞入"）→设置开始方式、方向与持续时间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B7A90"/>
                </a:solidFill>
                <a:latin typeface="Microsoft YaHei"/>
                <a:ea typeface="Microsoft YaHei"/>
                <a:cs typeface="Microsoft YaHei"/>
              </a:rPr>
              <a:t>291 / 292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200400" y="-1371600"/>
            <a:ext cx="7315200" cy="7315200"/>
          </a:xfrm>
          <a:prstGeom prst="ellipse">
            <a:avLst/>
          </a:prstGeom>
          <a:solidFill>
            <a:srgbClr val="1D4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祝 你 通 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0" i="0">
                <a:solidFill>
                  <a:srgbClr val="BCD4EC"/>
                </a:solidFill>
                <a:latin typeface="Microsoft YaHei"/>
                <a:ea typeface="Microsoft YaHei"/>
                <a:cs typeface="Microsoft YaHei"/>
              </a:rPr>
              <a:t>11 次课 × 4 课时 · 讲练结合 · 一次通过二级 WPS Office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